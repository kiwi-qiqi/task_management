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A791B-B711-8543-9795-8D0CD000A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F72408-1B0F-3DD8-C87D-E09BE8160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6E772-FF34-5F46-EABD-FB0ED882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277AFA-18E5-CE64-B1FC-23CA6003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93CB9B-EB69-B861-564D-9D6C1FFC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95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43E05-A1CF-1959-D863-E890FBD8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4015A2-E179-6BDF-79F8-2AA8D7249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0EEB29-177C-564A-F2AE-19DA9D7B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873DCA-A86A-E273-BED4-AEEA4A33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371795-293A-1356-46A9-97D2B01C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6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37928-EA52-5860-8E1C-B5AB001A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DB4E56-CEF0-EE07-C7E9-D50E6952F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BAB9B-B215-D8DF-B900-F6C2A82D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21F5F-30BD-0C1A-8363-E09DE4A0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554E8-4226-47F4-375F-B5C65D8F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36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8BCB8-0862-4876-1295-9920583F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A7BF88-D9DC-EC68-F883-7B2FDAE12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8411C5-06A4-383C-1B17-6BF2499FE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EDA9C9-A002-07F2-021F-1FC2720D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AA83C-2933-84DE-11E3-91E81B76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5C34D1-2F87-1E4A-BA10-D147E9E4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0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3B5A3-3760-727F-0622-9E9F6092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5D918E-83A0-6FBA-5851-E4B490CCD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63F9E8-0FF3-1463-95C7-F66B2989B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BDD21B-C8FC-70EA-06FC-42D123B04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FCB3A7-4DEF-246E-0CBD-1093CCD26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299C0F-5A52-2897-732B-6B7B632F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D13063-FBC9-D8BE-A696-0D523201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1C8BFD-C97F-E5BC-48AF-FCD8392B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0C531-606E-B427-C996-F72CEA57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D9BF54-58EC-114C-C3C7-FEEF6943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7451A6-DD4C-2846-FE7B-EBE29F40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17B07-2D53-BBD5-75C0-E871EAB2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21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9007F3-9ADF-6CA3-8A9C-CA9061D14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CB871F-E52C-A0A6-7DD9-785A0C64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758D7C-EC13-FFE8-D662-D100EB87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2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08EDA-E63B-486D-A939-F711C153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DE4A07-7EB5-7AB9-0DCC-96985CE4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3F59E5-BB7F-C79E-BC06-810475493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E9A060-8390-BBA3-C8F7-69AFEB90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6B5B74-8FA6-5E70-78EA-5C1F397B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B7C409-8687-0F52-A827-7B8B05D6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69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4CECA-C801-09B3-B1D9-1C7503DA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9D79D2-1892-0F10-7D8B-2FFB74EDF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3F8319-1493-3E74-214B-1BEDA7C17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C2C3E-C29A-5C8E-267F-8CBAF990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3BB37-5169-FC6A-BF53-58991295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BA1A3D-7794-28DF-E1B2-CEB5D3A1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76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366CF-B955-310C-7DD9-2A4B5856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2E0BC6-6987-CF74-C8C4-2B548ADCD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02F939-43C1-242E-13F9-C4EB82EB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D150F-A38B-D419-B836-343C2176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0D0819-EFDF-FE1C-82E3-DE5B8CB3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885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EC8551-09D5-C214-ED52-16836F9F7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1A5783-5760-5A33-982B-D5FD4F0D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12B4C-F627-E276-B1DC-087B32F8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18209F-269C-AECE-C41E-1AAE30C2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AC476-965C-2877-88D4-58FF0A7B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85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D20537-037B-BF62-FF2B-E35CCFA71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BD73B6-EDB4-9357-C51C-F44DC49F4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D78112-120F-36B0-E993-A62CAD592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0B275-96BC-4628-BFF0-B26DDD1DE394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E0C20-F927-031E-74DD-BA5B552CA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E2D211-D322-8A1B-4290-7A39F6929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6E25B-B957-4730-8590-945B71E30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411EEF-996E-986D-18AA-18328FC860C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207277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207C658-4907-73AC-1274-7FD95F2BEC03}"/>
              </a:ext>
            </a:extLst>
          </p:cNvPr>
          <p:cNvSpPr txBox="1"/>
          <p:nvPr/>
        </p:nvSpPr>
        <p:spPr>
          <a:xfrm>
            <a:off x="766618" y="2078182"/>
            <a:ext cx="9476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/>
            <a:r>
              <a:rPr lang="en-US" altLang="zh-CN" sz="3200" b="1" dirty="0"/>
              <a:t>GB/T 38775-2020 </a:t>
            </a:r>
            <a:r>
              <a:rPr lang="zh-CN" altLang="en-US" sz="3200" b="1" dirty="0"/>
              <a:t>电动汽车无线充电通信协议详解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4004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B0E926B-B5EB-4123-8DB0-554B90E3F95E}"/>
              </a:ext>
            </a:extLst>
          </p:cNvPr>
          <p:cNvSpPr txBox="1"/>
          <p:nvPr/>
        </p:nvSpPr>
        <p:spPr>
          <a:xfrm>
            <a:off x="489526" y="554182"/>
            <a:ext cx="10991273" cy="352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一、标准概述与目标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：标准定位与核心目标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标准名称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《</a:t>
            </a:r>
            <a:r>
              <a:rPr lang="zh-CN" altLang="en-US" b="0" i="0" dirty="0">
                <a:effectLst/>
                <a:latin typeface="system-ui"/>
              </a:rPr>
              <a:t>电动汽车无线充电系统 第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部分：车载充电机和无线充电设备之间的通信协议</a:t>
            </a:r>
            <a:r>
              <a:rPr lang="en-US" altLang="zh-CN" b="0" i="0" dirty="0">
                <a:effectLst/>
                <a:latin typeface="system-ui"/>
              </a:rPr>
              <a:t>》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核心目标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安全</a:t>
            </a:r>
            <a:r>
              <a:rPr lang="zh-CN" altLang="en-US" b="0" i="0" dirty="0">
                <a:effectLst/>
                <a:latin typeface="system-ui"/>
              </a:rPr>
              <a:t>：确保电动汽车与无线充电设备之间的通信安全。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高效</a:t>
            </a:r>
            <a:r>
              <a:rPr lang="zh-CN" altLang="en-US" b="0" i="0" dirty="0">
                <a:effectLst/>
                <a:latin typeface="system-ui"/>
              </a:rPr>
              <a:t>：规范通信流程，提升充电效率。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互操作性</a:t>
            </a:r>
            <a:r>
              <a:rPr lang="zh-CN" altLang="en-US" b="0" i="0" dirty="0">
                <a:effectLst/>
                <a:latin typeface="system-ui"/>
              </a:rPr>
              <a:t>：支持不同厂商的地面系统与车辆系统之间的互联互通。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适用范围</a:t>
            </a:r>
            <a:r>
              <a:rPr lang="zh-CN" altLang="en-US" b="0" i="0" dirty="0">
                <a:effectLst/>
                <a:latin typeface="system-ui"/>
              </a:rPr>
              <a:t>：静态无线充电系统中，</a:t>
            </a:r>
            <a:r>
              <a:rPr lang="en-US" altLang="zh-CN" b="0" i="0" dirty="0">
                <a:effectLst/>
                <a:latin typeface="system-ui"/>
              </a:rPr>
              <a:t>CSU</a:t>
            </a:r>
            <a:r>
              <a:rPr lang="zh-CN" altLang="en-US" b="0" i="0" dirty="0">
                <a:effectLst/>
                <a:latin typeface="system-ui"/>
              </a:rPr>
              <a:t>与</a:t>
            </a:r>
            <a:r>
              <a:rPr lang="en-US" altLang="zh-CN" b="0" i="0" dirty="0">
                <a:effectLst/>
                <a:latin typeface="system-ui"/>
              </a:rPr>
              <a:t>IVU</a:t>
            </a:r>
            <a:r>
              <a:rPr lang="zh-CN" altLang="en-US" b="0" i="0" dirty="0">
                <a:effectLst/>
                <a:latin typeface="system-ui"/>
              </a:rPr>
              <a:t>之间，以及</a:t>
            </a:r>
            <a:r>
              <a:rPr lang="en-US" altLang="zh-CN" b="0" i="0" dirty="0">
                <a:effectLst/>
                <a:latin typeface="system-ui"/>
              </a:rPr>
              <a:t>WCCMS</a:t>
            </a:r>
            <a:r>
              <a:rPr lang="zh-CN" altLang="en-US" b="0" i="0" dirty="0">
                <a:effectLst/>
                <a:latin typeface="system-ui"/>
              </a:rPr>
              <a:t>参与的控制管理通信。</a:t>
            </a:r>
          </a:p>
        </p:txBody>
      </p:sp>
    </p:spTree>
    <p:extLst>
      <p:ext uri="{BB962C8B-B14F-4D97-AF65-F5344CB8AC3E}">
        <p14:creationId xmlns:p14="http://schemas.microsoft.com/office/powerpoint/2010/main" val="346522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4357A0C-9936-6D73-FB22-EC1C0BD54EE1}"/>
              </a:ext>
            </a:extLst>
          </p:cNvPr>
          <p:cNvSpPr txBox="1"/>
          <p:nvPr/>
        </p:nvSpPr>
        <p:spPr>
          <a:xfrm>
            <a:off x="184727" y="618836"/>
            <a:ext cx="8954654" cy="569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二、系统架构与核心单元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：系统架构与功能单元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架构图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endParaRPr lang="en-US" altLang="zh-CN" b="0" i="0" dirty="0">
              <a:effectLst/>
              <a:latin typeface="system-ui"/>
            </a:endParaRP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system-ui"/>
            </a:endParaRP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system-ui"/>
            </a:endParaRP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system-ui"/>
            </a:endParaRP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system-ui"/>
            </a:endParaRP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地面系统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WCCMS, CSU, PTC, PFC, </a:t>
            </a:r>
            <a:r>
              <a:rPr lang="en-US" altLang="zh-CN" b="0" i="0" dirty="0" err="1">
                <a:effectLst/>
                <a:latin typeface="system-ui"/>
              </a:rPr>
              <a:t>PrC</a:t>
            </a:r>
            <a:r>
              <a:rPr lang="zh-CN" altLang="en-US" b="0" i="0" dirty="0">
                <a:effectLst/>
                <a:latin typeface="system-ui"/>
              </a:rPr>
              <a:t>（原边线圈）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车辆系统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IVU, PPC, </a:t>
            </a:r>
            <a:r>
              <a:rPr lang="en-US" altLang="zh-CN" b="0" i="0" dirty="0" err="1">
                <a:effectLst/>
                <a:latin typeface="system-ui"/>
              </a:rPr>
              <a:t>PuC</a:t>
            </a:r>
            <a:r>
              <a:rPr lang="zh-CN" altLang="en-US" b="0" i="0" dirty="0">
                <a:effectLst/>
                <a:latin typeface="system-ui"/>
              </a:rPr>
              <a:t>（副边线圈），车辆控制系统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无线能量传输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 err="1">
                <a:effectLst/>
                <a:latin typeface="system-ui"/>
              </a:rPr>
              <a:t>PrC</a:t>
            </a:r>
            <a:r>
              <a:rPr lang="en-US" altLang="zh-CN" b="0" i="0" dirty="0">
                <a:effectLst/>
                <a:latin typeface="system-ui"/>
              </a:rPr>
              <a:t> ↔ </a:t>
            </a:r>
            <a:r>
              <a:rPr lang="en-US" altLang="zh-CN" b="0" i="0" dirty="0" err="1">
                <a:effectLst/>
                <a:latin typeface="system-ui"/>
              </a:rPr>
              <a:t>PuC</a:t>
            </a:r>
            <a:endParaRPr lang="en-US" altLang="zh-CN" b="0" i="0" dirty="0">
              <a:effectLst/>
              <a:latin typeface="system-ui"/>
            </a:endParaRP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核心通信单元功能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WCCMS</a:t>
            </a:r>
            <a:r>
              <a:rPr lang="zh-CN" altLang="en-US" b="0" i="0" dirty="0">
                <a:effectLst/>
                <a:latin typeface="system-ui"/>
              </a:rPr>
              <a:t>：控制管理中心，负责认证、鉴权、充电管理。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CSU</a:t>
            </a:r>
            <a:r>
              <a:rPr lang="zh-CN" altLang="en-US" b="0" i="0" dirty="0">
                <a:effectLst/>
                <a:latin typeface="system-ui"/>
              </a:rPr>
              <a:t>：地面通信枢纽，控制</a:t>
            </a:r>
            <a:r>
              <a:rPr lang="en-US" altLang="zh-CN" b="0" i="0" dirty="0">
                <a:effectLst/>
                <a:latin typeface="system-ui"/>
              </a:rPr>
              <a:t>PTC</a:t>
            </a:r>
            <a:r>
              <a:rPr lang="zh-CN" altLang="en-US" b="0" i="0" dirty="0">
                <a:effectLst/>
                <a:latin typeface="system-ui"/>
              </a:rPr>
              <a:t>，与</a:t>
            </a:r>
            <a:r>
              <a:rPr lang="en-US" altLang="zh-CN" b="0" i="0" dirty="0">
                <a:effectLst/>
                <a:latin typeface="system-ui"/>
              </a:rPr>
              <a:t>IVU/WCCMS</a:t>
            </a:r>
            <a:r>
              <a:rPr lang="zh-CN" altLang="en-US" b="0" i="0" dirty="0">
                <a:effectLst/>
                <a:latin typeface="system-ui"/>
              </a:rPr>
              <a:t>通信。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IVU</a:t>
            </a:r>
            <a:r>
              <a:rPr lang="zh-CN" altLang="en-US" b="0" i="0" dirty="0">
                <a:effectLst/>
                <a:latin typeface="system-ui"/>
              </a:rPr>
              <a:t>：车载通信枢纽，与</a:t>
            </a:r>
            <a:r>
              <a:rPr lang="en-US" altLang="zh-CN" b="0" i="0" dirty="0">
                <a:effectLst/>
                <a:latin typeface="system-ui"/>
              </a:rPr>
              <a:t>CSU</a:t>
            </a:r>
            <a:r>
              <a:rPr lang="zh-CN" altLang="en-US" b="0" i="0" dirty="0">
                <a:effectLst/>
                <a:latin typeface="system-ui"/>
              </a:rPr>
              <a:t>通信，监控车辆状态。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A5862C-5982-D3F1-5DCA-318AAFD25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9"/>
          <a:stretch>
            <a:fillRect/>
          </a:stretch>
        </p:blipFill>
        <p:spPr>
          <a:xfrm>
            <a:off x="3252321" y="129309"/>
            <a:ext cx="8754952" cy="361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3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4CFC034-142D-ECCB-E437-CA83CE42E3E5}"/>
              </a:ext>
            </a:extLst>
          </p:cNvPr>
          <p:cNvSpPr txBox="1"/>
          <p:nvPr/>
        </p:nvSpPr>
        <p:spPr>
          <a:xfrm>
            <a:off x="729673" y="591128"/>
            <a:ext cx="9356436" cy="426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三、通信协议定义 </a:t>
            </a:r>
            <a:r>
              <a:rPr lang="en-US" altLang="zh-CN" b="1" i="0" dirty="0">
                <a:effectLst/>
                <a:latin typeface="system-ui"/>
              </a:rPr>
              <a:t>- </a:t>
            </a:r>
            <a:r>
              <a:rPr lang="zh-CN" altLang="en-US" b="1" i="0" dirty="0">
                <a:effectLst/>
                <a:latin typeface="system-ui"/>
              </a:rPr>
              <a:t>两种通信模式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：通信模式</a:t>
            </a:r>
            <a:r>
              <a:rPr lang="en-US" altLang="zh-CN" b="0" i="0" dirty="0">
                <a:effectLst/>
                <a:latin typeface="system-ui"/>
              </a:rPr>
              <a:t>A vs. </a:t>
            </a:r>
            <a:r>
              <a:rPr lang="zh-CN" altLang="en-US" b="0" i="0" dirty="0">
                <a:effectLst/>
                <a:latin typeface="system-ui"/>
              </a:rPr>
              <a:t>通信模式</a:t>
            </a:r>
            <a:r>
              <a:rPr lang="en-US" altLang="zh-CN" b="0" i="0" dirty="0">
                <a:effectLst/>
                <a:latin typeface="system-ui"/>
              </a:rPr>
              <a:t>B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模式</a:t>
            </a:r>
            <a:r>
              <a:rPr lang="en-US" altLang="zh-CN" b="1" i="0" dirty="0">
                <a:effectLst/>
                <a:latin typeface="system-ui"/>
              </a:rPr>
              <a:t>A</a:t>
            </a:r>
            <a:r>
              <a:rPr lang="zh-CN" altLang="en-US" b="1" i="0" dirty="0">
                <a:effectLst/>
                <a:latin typeface="system-ui"/>
              </a:rPr>
              <a:t>（直接通信）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参与方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CSU ↔ IVU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特点</a:t>
            </a:r>
            <a:r>
              <a:rPr lang="zh-CN" altLang="en-US" b="0" i="0" dirty="0">
                <a:effectLst/>
                <a:latin typeface="system-ui"/>
              </a:rPr>
              <a:t>：简单、直接，适用于基础充电场景。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流程</a:t>
            </a:r>
            <a:r>
              <a:rPr lang="zh-CN" altLang="en-US" b="0" i="0" dirty="0">
                <a:effectLst/>
                <a:latin typeface="system-ui"/>
              </a:rPr>
              <a:t>：注册 → 信息上报 → 充电控制 → 状态同步 → 注销。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模式</a:t>
            </a:r>
            <a:r>
              <a:rPr lang="en-US" altLang="zh-CN" b="1" i="0" dirty="0">
                <a:effectLst/>
                <a:latin typeface="system-ui"/>
              </a:rPr>
              <a:t>B</a:t>
            </a:r>
            <a:r>
              <a:rPr lang="zh-CN" altLang="en-US" b="1" i="0" dirty="0">
                <a:effectLst/>
                <a:latin typeface="system-ui"/>
              </a:rPr>
              <a:t>（管理式通信）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参与方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WCCMS ↔ CSU ↔ IVU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特点</a:t>
            </a:r>
            <a:r>
              <a:rPr lang="zh-CN" altLang="en-US" b="0" i="0" dirty="0">
                <a:effectLst/>
                <a:latin typeface="system-ui"/>
              </a:rPr>
              <a:t>：支持远程集中管理、高级鉴权、运营计费。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流程</a:t>
            </a:r>
            <a:r>
              <a:rPr lang="zh-CN" altLang="en-US" b="0" i="0" dirty="0">
                <a:effectLst/>
                <a:latin typeface="system-ui"/>
              </a:rPr>
              <a:t>：向</a:t>
            </a:r>
            <a:r>
              <a:rPr lang="en-US" altLang="zh-CN" b="0" i="0" dirty="0">
                <a:effectLst/>
                <a:latin typeface="system-ui"/>
              </a:rPr>
              <a:t>WCCMS</a:t>
            </a:r>
            <a:r>
              <a:rPr lang="zh-CN" altLang="en-US" b="0" i="0" dirty="0">
                <a:effectLst/>
                <a:latin typeface="system-ui"/>
              </a:rPr>
              <a:t>注册 → </a:t>
            </a:r>
            <a:r>
              <a:rPr lang="en-US" altLang="zh-CN" b="0" i="0" dirty="0">
                <a:effectLst/>
                <a:latin typeface="system-ui"/>
              </a:rPr>
              <a:t>WCCMS</a:t>
            </a:r>
            <a:r>
              <a:rPr lang="zh-CN" altLang="en-US" b="0" i="0" dirty="0">
                <a:effectLst/>
                <a:latin typeface="system-ui"/>
              </a:rPr>
              <a:t>参与鉴权与充电决策。</a:t>
            </a:r>
          </a:p>
        </p:txBody>
      </p:sp>
    </p:spTree>
    <p:extLst>
      <p:ext uri="{BB962C8B-B14F-4D97-AF65-F5344CB8AC3E}">
        <p14:creationId xmlns:p14="http://schemas.microsoft.com/office/powerpoint/2010/main" val="105160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A1CC4EB-BE3A-BD2A-ACBE-76688CA887CF}"/>
              </a:ext>
            </a:extLst>
          </p:cNvPr>
          <p:cNvSpPr txBox="1"/>
          <p:nvPr/>
        </p:nvSpPr>
        <p:spPr>
          <a:xfrm>
            <a:off x="184727" y="120073"/>
            <a:ext cx="6437746" cy="613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三、通信协议定义 </a:t>
            </a:r>
            <a:r>
              <a:rPr lang="en-US" altLang="zh-CN" b="1" i="0" dirty="0">
                <a:effectLst/>
                <a:latin typeface="system-ui"/>
              </a:rPr>
              <a:t>- </a:t>
            </a:r>
            <a:r>
              <a:rPr lang="zh-CN" altLang="en-US" b="1" i="0" dirty="0">
                <a:effectLst/>
                <a:latin typeface="system-ui"/>
              </a:rPr>
              <a:t>关键消息类型与流程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：核心消息与充电流程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四大消息类别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通用消息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0x90-0x9F</a:t>
            </a:r>
            <a:r>
              <a:rPr lang="zh-CN" altLang="en-US" b="0" i="0" dirty="0">
                <a:effectLst/>
                <a:latin typeface="system-ui"/>
              </a:rPr>
              <a:t>）：保活请求</a:t>
            </a:r>
            <a:r>
              <a:rPr lang="en-US" altLang="zh-CN" b="0" i="0" dirty="0">
                <a:effectLst/>
                <a:latin typeface="system-ui"/>
              </a:rPr>
              <a:t>/</a:t>
            </a:r>
            <a:r>
              <a:rPr lang="zh-CN" altLang="en-US" b="0" i="0" dirty="0">
                <a:effectLst/>
                <a:latin typeface="system-ui"/>
              </a:rPr>
              <a:t>响应，</a:t>
            </a:r>
            <a:endParaRPr lang="en-US" altLang="zh-CN" b="0" i="0" dirty="0">
              <a:effectLst/>
              <a:latin typeface="system-ui"/>
            </a:endParaRPr>
          </a:p>
          <a:p>
            <a:pPr lvl="2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system-ui"/>
              </a:rPr>
              <a:t>维持连接。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初始化消息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0x10-0x19</a:t>
            </a:r>
            <a:r>
              <a:rPr lang="zh-CN" altLang="en-US" b="0" i="0" dirty="0">
                <a:effectLst/>
                <a:latin typeface="system-ui"/>
              </a:rPr>
              <a:t>）：注册、鉴权、</a:t>
            </a:r>
            <a:endParaRPr lang="en-US" altLang="zh-CN" b="0" i="0" dirty="0">
              <a:effectLst/>
              <a:latin typeface="system-ui"/>
            </a:endParaRPr>
          </a:p>
          <a:p>
            <a:pPr lvl="2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system-ui"/>
              </a:rPr>
              <a:t>注销，建立安全链路。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充电控制消息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0x1A-0x2F</a:t>
            </a:r>
            <a:r>
              <a:rPr lang="zh-CN" altLang="en-US" b="0" i="0" dirty="0">
                <a:effectLst/>
                <a:latin typeface="system-ui"/>
              </a:rPr>
              <a:t>）：开始</a:t>
            </a:r>
            <a:r>
              <a:rPr lang="en-US" altLang="zh-CN" b="0" i="0" dirty="0">
                <a:effectLst/>
                <a:latin typeface="system-ui"/>
              </a:rPr>
              <a:t>/</a:t>
            </a:r>
            <a:r>
              <a:rPr lang="zh-CN" altLang="en-US" b="0" i="0" dirty="0">
                <a:effectLst/>
                <a:latin typeface="system-ui"/>
              </a:rPr>
              <a:t>停止</a:t>
            </a:r>
            <a:endParaRPr lang="en-US" altLang="zh-CN" b="0" i="0" dirty="0">
              <a:effectLst/>
              <a:latin typeface="system-ui"/>
            </a:endParaRPr>
          </a:p>
          <a:p>
            <a:pPr lvl="2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system-ui"/>
              </a:rPr>
              <a:t>充电命令与请求。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信息上报消息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0x30-0xFF</a:t>
            </a:r>
            <a:r>
              <a:rPr lang="zh-CN" altLang="en-US" b="0" i="0" dirty="0">
                <a:effectLst/>
                <a:latin typeface="system-ui"/>
              </a:rPr>
              <a:t>）：状态查询、</a:t>
            </a:r>
            <a:endParaRPr lang="en-US" altLang="zh-CN" b="0" i="0" dirty="0">
              <a:effectLst/>
              <a:latin typeface="system-ui"/>
            </a:endParaRPr>
          </a:p>
          <a:p>
            <a:pPr lvl="2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system-ui"/>
              </a:rPr>
              <a:t>故障上报、性能测量。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典型充电流程</a:t>
            </a:r>
            <a:r>
              <a:rPr lang="zh-CN" altLang="en-US" b="0" i="0" dirty="0">
                <a:effectLst/>
                <a:latin typeface="system-ui"/>
              </a:rPr>
              <a:t>（以模式</a:t>
            </a:r>
            <a:r>
              <a:rPr lang="en-US" altLang="zh-CN" b="0" i="0" dirty="0">
                <a:effectLst/>
                <a:latin typeface="system-ui"/>
              </a:rPr>
              <a:t>B</a:t>
            </a:r>
            <a:r>
              <a:rPr lang="zh-CN" altLang="en-US" b="0" i="0" dirty="0">
                <a:effectLst/>
                <a:latin typeface="system-ui"/>
              </a:rPr>
              <a:t>为例）： </a:t>
            </a:r>
            <a:r>
              <a:rPr lang="en-US" altLang="zh-CN" b="0" i="0" dirty="0">
                <a:effectLst/>
                <a:latin typeface="Courier New" panose="02070309020205020404" pitchFamily="49" charset="0"/>
              </a:rPr>
              <a:t>IVU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注册 </a:t>
            </a:r>
            <a:endParaRPr lang="en-US" altLang="zh-CN" b="0" i="0" dirty="0">
              <a:effectLst/>
              <a:latin typeface="Courier New" panose="02070309020205020404" pitchFamily="49" charset="0"/>
            </a:endParaRPr>
          </a:p>
          <a:p>
            <a:pPr lvl="1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Courier New" panose="02070309020205020404" pitchFamily="49" charset="0"/>
              </a:rPr>
              <a:t>→ 车位标识上报 → 开始充电请求 → 互操作性检测</a:t>
            </a:r>
            <a:endParaRPr lang="en-US" altLang="zh-CN" b="0" i="0" dirty="0">
              <a:effectLst/>
              <a:latin typeface="Courier New" panose="02070309020205020404" pitchFamily="49" charset="0"/>
            </a:endParaRPr>
          </a:p>
          <a:p>
            <a:pPr lvl="1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Courier New" panose="02070309020205020404" pitchFamily="49" charset="0"/>
              </a:rPr>
              <a:t> → </a:t>
            </a:r>
            <a:r>
              <a:rPr lang="en-US" altLang="zh-CN" b="0" i="0" dirty="0">
                <a:effectLst/>
                <a:latin typeface="Courier New" panose="02070309020205020404" pitchFamily="49" charset="0"/>
              </a:rPr>
              <a:t>WCCMS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授权 → 能量传输 → 状态监控</a:t>
            </a:r>
            <a:endParaRPr lang="en-US" altLang="zh-CN" b="0" i="0" dirty="0">
              <a:effectLst/>
              <a:latin typeface="Courier New" panose="02070309020205020404" pitchFamily="49" charset="0"/>
            </a:endParaRPr>
          </a:p>
          <a:p>
            <a:pPr lvl="1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Courier New" panose="02070309020205020404" pitchFamily="49" charset="0"/>
              </a:rPr>
              <a:t> → 停止充电</a:t>
            </a:r>
            <a:endParaRPr lang="zh-CN" altLang="en-US" b="0" i="0" dirty="0">
              <a:effectLst/>
              <a:latin typeface="system-u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8BED05-5679-5CB6-ECC6-EB191E5A1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570" y="0"/>
            <a:ext cx="6306430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2965-F10A-E547-C161-14545F36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62426B-EE54-BAEA-9C89-1BBA06B07818}"/>
              </a:ext>
            </a:extLst>
          </p:cNvPr>
          <p:cNvSpPr txBox="1"/>
          <p:nvPr/>
        </p:nvSpPr>
        <p:spPr>
          <a:xfrm>
            <a:off x="212436" y="221673"/>
            <a:ext cx="8926945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四、接口与消息规范 </a:t>
            </a:r>
            <a:r>
              <a:rPr lang="en-US" altLang="zh-CN" b="1" i="0" dirty="0">
                <a:effectLst/>
                <a:latin typeface="system-ui"/>
              </a:rPr>
              <a:t>- </a:t>
            </a:r>
            <a:r>
              <a:rPr lang="zh-CN" altLang="en-US" b="1" i="0" dirty="0">
                <a:effectLst/>
                <a:latin typeface="system-ui"/>
              </a:rPr>
              <a:t>逻辑接口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：系统逻辑接口定义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CI</a:t>
            </a:r>
            <a:r>
              <a:rPr lang="zh-CN" altLang="en-US" b="1" i="0" dirty="0">
                <a:effectLst/>
                <a:latin typeface="system-ui"/>
              </a:rPr>
              <a:t>接口</a:t>
            </a:r>
            <a:r>
              <a:rPr lang="zh-CN" altLang="en-US" b="0" i="0" dirty="0">
                <a:effectLst/>
                <a:latin typeface="system-ui"/>
              </a:rPr>
              <a:t>（核心）：</a:t>
            </a:r>
            <a:r>
              <a:rPr lang="en-US" altLang="zh-CN" b="0" i="0" dirty="0">
                <a:effectLst/>
                <a:latin typeface="system-ui"/>
              </a:rPr>
              <a:t>CSU</a:t>
            </a:r>
            <a:r>
              <a:rPr lang="zh-CN" altLang="en-US" b="0" i="0" dirty="0">
                <a:effectLst/>
                <a:latin typeface="system-ui"/>
              </a:rPr>
              <a:t>与</a:t>
            </a:r>
            <a:r>
              <a:rPr lang="en-US" altLang="zh-CN" b="0" i="0" dirty="0">
                <a:effectLst/>
                <a:latin typeface="system-ui"/>
              </a:rPr>
              <a:t>IVU</a:t>
            </a:r>
            <a:r>
              <a:rPr lang="zh-CN" altLang="en-US" b="0" i="0" dirty="0">
                <a:effectLst/>
                <a:latin typeface="system-ui"/>
              </a:rPr>
              <a:t>间的通信接口。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控制信令接口</a:t>
            </a:r>
            <a:r>
              <a:rPr lang="zh-CN" altLang="en-US" b="0" i="0" dirty="0">
                <a:effectLst/>
                <a:latin typeface="system-ui"/>
              </a:rPr>
              <a:t>：充电控制命令。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数据接口</a:t>
            </a:r>
            <a:r>
              <a:rPr lang="zh-CN" altLang="en-US" b="0" i="0" dirty="0">
                <a:effectLst/>
                <a:latin typeface="system-ui"/>
              </a:rPr>
              <a:t>：承载</a:t>
            </a:r>
            <a:r>
              <a:rPr lang="en-US" altLang="zh-CN" b="0" i="0" dirty="0">
                <a:effectLst/>
                <a:latin typeface="system-ui"/>
              </a:rPr>
              <a:t>PTC</a:t>
            </a:r>
            <a:r>
              <a:rPr lang="zh-CN" altLang="en-US" b="0" i="0" dirty="0">
                <a:effectLst/>
                <a:latin typeface="system-ui"/>
              </a:rPr>
              <a:t>与</a:t>
            </a:r>
            <a:r>
              <a:rPr lang="en-US" altLang="zh-CN" b="0" i="0" dirty="0">
                <a:effectLst/>
                <a:latin typeface="system-ui"/>
              </a:rPr>
              <a:t>PPC</a:t>
            </a:r>
            <a:r>
              <a:rPr lang="zh-CN" altLang="en-US" b="0" i="0" dirty="0">
                <a:effectLst/>
                <a:latin typeface="system-ui"/>
              </a:rPr>
              <a:t>之间的数据通信。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WC</a:t>
            </a:r>
            <a:r>
              <a:rPr lang="zh-CN" altLang="en-US" b="1" i="0" dirty="0">
                <a:effectLst/>
                <a:latin typeface="system-ui"/>
              </a:rPr>
              <a:t>接口</a:t>
            </a:r>
            <a:r>
              <a:rPr lang="zh-CN" altLang="en-US" b="0" i="0" dirty="0">
                <a:effectLst/>
                <a:latin typeface="system-ui"/>
              </a:rPr>
              <a:t>（模式</a:t>
            </a:r>
            <a:r>
              <a:rPr lang="en-US" altLang="zh-CN" b="0" i="0" dirty="0">
                <a:effectLst/>
                <a:latin typeface="system-ui"/>
              </a:rPr>
              <a:t>B</a:t>
            </a:r>
            <a:r>
              <a:rPr lang="zh-CN" altLang="en-US" b="0" i="0" dirty="0">
                <a:effectLst/>
                <a:latin typeface="system-ui"/>
              </a:rPr>
              <a:t>）：</a:t>
            </a:r>
            <a:r>
              <a:rPr lang="en-US" altLang="zh-CN" b="0" i="0" dirty="0">
                <a:effectLst/>
                <a:latin typeface="system-ui"/>
              </a:rPr>
              <a:t>WCCMS</a:t>
            </a:r>
            <a:r>
              <a:rPr lang="zh-CN" altLang="en-US" b="0" i="0" dirty="0">
                <a:effectLst/>
                <a:latin typeface="system-ui"/>
              </a:rPr>
              <a:t>与</a:t>
            </a:r>
            <a:r>
              <a:rPr lang="en-US" altLang="zh-CN" b="0" i="0" dirty="0">
                <a:effectLst/>
                <a:latin typeface="system-ui"/>
              </a:rPr>
              <a:t>CSU</a:t>
            </a:r>
            <a:r>
              <a:rPr lang="zh-CN" altLang="en-US" b="0" i="0" dirty="0">
                <a:effectLst/>
                <a:latin typeface="system-ui"/>
              </a:rPr>
              <a:t>之间的管理接口。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WI</a:t>
            </a:r>
            <a:r>
              <a:rPr lang="zh-CN" altLang="en-US" b="1" i="0" dirty="0">
                <a:effectLst/>
                <a:latin typeface="system-ui"/>
              </a:rPr>
              <a:t>接口</a:t>
            </a:r>
            <a:r>
              <a:rPr lang="zh-CN" altLang="en-US" b="0" i="0" dirty="0">
                <a:effectLst/>
                <a:latin typeface="system-ui"/>
              </a:rPr>
              <a:t>（可选）：</a:t>
            </a:r>
            <a:r>
              <a:rPr lang="en-US" altLang="zh-CN" b="0" i="0" dirty="0">
                <a:effectLst/>
                <a:latin typeface="system-ui"/>
              </a:rPr>
              <a:t>WCCMS</a:t>
            </a:r>
            <a:r>
              <a:rPr lang="zh-CN" altLang="en-US" b="0" i="0" dirty="0">
                <a:effectLst/>
                <a:latin typeface="system-ui"/>
              </a:rPr>
              <a:t>与</a:t>
            </a:r>
            <a:r>
              <a:rPr lang="en-US" altLang="zh-CN" b="0" i="0" dirty="0">
                <a:effectLst/>
                <a:latin typeface="system-ui"/>
              </a:rPr>
              <a:t>IVU</a:t>
            </a:r>
            <a:r>
              <a:rPr lang="zh-CN" altLang="en-US" b="0" i="0" dirty="0">
                <a:effectLst/>
                <a:latin typeface="system-ui"/>
              </a:rPr>
              <a:t>之间的接口（通常通过</a:t>
            </a:r>
            <a:r>
              <a:rPr lang="en-US" altLang="zh-CN" b="0" i="0" dirty="0">
                <a:effectLst/>
                <a:latin typeface="system-ui"/>
              </a:rPr>
              <a:t>CSU</a:t>
            </a:r>
            <a:r>
              <a:rPr lang="zh-CN" altLang="en-US" b="0" i="0" dirty="0">
                <a:effectLst/>
                <a:latin typeface="system-ui"/>
              </a:rPr>
              <a:t>中转）。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178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23FE-C8A9-4262-7E4D-2B934192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824A6B-0F2A-3E9A-CE2E-85BA9E85DD20}"/>
              </a:ext>
            </a:extLst>
          </p:cNvPr>
          <p:cNvSpPr txBox="1"/>
          <p:nvPr/>
        </p:nvSpPr>
        <p:spPr>
          <a:xfrm>
            <a:off x="129309" y="120074"/>
            <a:ext cx="9010072" cy="426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四、接口与消息规范 </a:t>
            </a:r>
            <a:r>
              <a:rPr lang="en-US" altLang="zh-CN" b="1" i="0" dirty="0">
                <a:effectLst/>
                <a:latin typeface="system-ui"/>
              </a:rPr>
              <a:t>- </a:t>
            </a:r>
            <a:r>
              <a:rPr lang="zh-CN" altLang="en-US" b="1" i="0" dirty="0">
                <a:effectLst/>
                <a:latin typeface="system-ui"/>
              </a:rPr>
              <a:t>消息结构（消息头）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：消息结构 </a:t>
            </a:r>
            <a:r>
              <a:rPr lang="en-US" altLang="zh-CN" b="0" i="0" dirty="0">
                <a:effectLst/>
                <a:latin typeface="system-ui"/>
              </a:rPr>
              <a:t>- </a:t>
            </a:r>
            <a:r>
              <a:rPr lang="zh-CN" altLang="en-US" b="0" i="0" dirty="0">
                <a:effectLst/>
                <a:latin typeface="system-ui"/>
              </a:rPr>
              <a:t>消息头（</a:t>
            </a:r>
            <a:r>
              <a:rPr lang="en-US" altLang="zh-CN" b="0" i="0" dirty="0">
                <a:effectLst/>
                <a:latin typeface="system-ui"/>
              </a:rPr>
              <a:t>26</a:t>
            </a:r>
            <a:r>
              <a:rPr lang="zh-CN" altLang="en-US" b="0" i="0" dirty="0">
                <a:effectLst/>
                <a:latin typeface="system-ui"/>
              </a:rPr>
              <a:t>字节）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固定</a:t>
            </a:r>
            <a:r>
              <a:rPr lang="en-US" altLang="zh-CN" b="1" i="0" dirty="0">
                <a:effectLst/>
                <a:latin typeface="system-ui"/>
              </a:rPr>
              <a:t>26</a:t>
            </a:r>
            <a:r>
              <a:rPr lang="zh-CN" altLang="en-US" b="1" i="0" dirty="0">
                <a:effectLst/>
                <a:latin typeface="system-ui"/>
              </a:rPr>
              <a:t>字节头，确保可靠传输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启动字符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4</a:t>
            </a:r>
            <a:r>
              <a:rPr lang="zh-CN" altLang="en-US" b="0" i="0" dirty="0">
                <a:effectLst/>
                <a:latin typeface="system-ui"/>
              </a:rPr>
              <a:t>字节）：帧起始标识。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版本号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1</a:t>
            </a:r>
            <a:r>
              <a:rPr lang="zh-CN" altLang="en-US" b="0" i="0" dirty="0">
                <a:effectLst/>
                <a:latin typeface="system-ui"/>
              </a:rPr>
              <a:t>字节）：协议主版本与子版本。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序列号 </a:t>
            </a:r>
            <a:r>
              <a:rPr lang="en-US" altLang="zh-CN" b="1" i="0" dirty="0">
                <a:effectLst/>
                <a:latin typeface="system-ui"/>
              </a:rPr>
              <a:t>&amp; </a:t>
            </a:r>
            <a:r>
              <a:rPr lang="zh-CN" altLang="en-US" b="1" i="0" dirty="0">
                <a:effectLst/>
                <a:latin typeface="system-ui"/>
              </a:rPr>
              <a:t>校验和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4</a:t>
            </a:r>
            <a:r>
              <a:rPr lang="zh-CN" altLang="en-US" b="0" i="0" dirty="0">
                <a:effectLst/>
                <a:latin typeface="system-ui"/>
              </a:rPr>
              <a:t>字节）：保证消息顺序与数据完整性。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源</a:t>
            </a:r>
            <a:r>
              <a:rPr lang="en-US" altLang="zh-CN" b="1" i="0" dirty="0">
                <a:effectLst/>
                <a:latin typeface="system-ui"/>
              </a:rPr>
              <a:t>/</a:t>
            </a:r>
            <a:r>
              <a:rPr lang="zh-CN" altLang="en-US" b="1" i="0" dirty="0">
                <a:effectLst/>
                <a:latin typeface="system-ui"/>
              </a:rPr>
              <a:t>目的标识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字节）：标识发送方和接收方（</a:t>
            </a:r>
            <a:r>
              <a:rPr lang="en-US" altLang="zh-CN" b="0" i="0" dirty="0">
                <a:effectLst/>
                <a:latin typeface="system-ui"/>
              </a:rPr>
              <a:t>CSU/IVU/WCCMS</a:t>
            </a:r>
            <a:r>
              <a:rPr lang="zh-CN" altLang="en-US" b="0" i="0" dirty="0">
                <a:effectLst/>
                <a:latin typeface="system-ui"/>
              </a:rPr>
              <a:t>）。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设备标识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9</a:t>
            </a:r>
            <a:r>
              <a:rPr lang="zh-CN" altLang="en-US" b="0" i="0" dirty="0">
                <a:effectLst/>
                <a:latin typeface="system-ui"/>
              </a:rPr>
              <a:t>字节）：</a:t>
            </a:r>
            <a:r>
              <a:rPr lang="en-US" altLang="zh-CN" b="0" i="0" dirty="0">
                <a:effectLst/>
                <a:latin typeface="system-ui"/>
              </a:rPr>
              <a:t>CSU/IVU</a:t>
            </a:r>
            <a:r>
              <a:rPr lang="zh-CN" altLang="en-US" b="0" i="0" dirty="0">
                <a:effectLst/>
                <a:latin typeface="system-ui"/>
              </a:rPr>
              <a:t>的唯一</a:t>
            </a:r>
            <a:r>
              <a:rPr lang="en-US" altLang="zh-CN" b="0" i="0" dirty="0">
                <a:effectLst/>
                <a:latin typeface="system-ui"/>
              </a:rPr>
              <a:t>ID</a:t>
            </a:r>
            <a:r>
              <a:rPr lang="zh-CN" altLang="en-US" b="0" i="0" dirty="0">
                <a:effectLst/>
                <a:latin typeface="system-ui"/>
              </a:rPr>
              <a:t>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消息总长度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字节）：指示整个消息的长度。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作用</a:t>
            </a:r>
            <a:r>
              <a:rPr lang="zh-CN" altLang="en-US" b="0" i="0" dirty="0">
                <a:effectLst/>
                <a:latin typeface="system-ui"/>
              </a:rPr>
              <a:t>：提供寻址、校验、版本控制等基础通信能力。</a:t>
            </a:r>
          </a:p>
        </p:txBody>
      </p:sp>
    </p:spTree>
    <p:extLst>
      <p:ext uri="{BB962C8B-B14F-4D97-AF65-F5344CB8AC3E}">
        <p14:creationId xmlns:p14="http://schemas.microsoft.com/office/powerpoint/2010/main" val="216532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6B348-B44D-1FDA-D251-B1327EFB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92FDE67-C777-D4D6-1211-DDD27309389F}"/>
              </a:ext>
            </a:extLst>
          </p:cNvPr>
          <p:cNvSpPr txBox="1"/>
          <p:nvPr/>
        </p:nvSpPr>
        <p:spPr>
          <a:xfrm>
            <a:off x="147782" y="138545"/>
            <a:ext cx="8991599" cy="4639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四、接口与消息规范 </a:t>
            </a:r>
            <a:r>
              <a:rPr lang="en-US" altLang="zh-CN" b="1" i="0" dirty="0">
                <a:effectLst/>
                <a:latin typeface="system-ui"/>
              </a:rPr>
              <a:t>- </a:t>
            </a:r>
            <a:r>
              <a:rPr lang="zh-CN" altLang="en-US" b="1" i="0" dirty="0">
                <a:effectLst/>
                <a:latin typeface="system-ui"/>
              </a:rPr>
              <a:t>消息结构（消息体与</a:t>
            </a:r>
            <a:r>
              <a:rPr lang="en-US" altLang="zh-CN" b="1" i="0" dirty="0">
                <a:effectLst/>
                <a:latin typeface="system-ui"/>
              </a:rPr>
              <a:t>TLV</a:t>
            </a:r>
            <a:r>
              <a:rPr lang="zh-CN" altLang="en-US" b="1" i="0" dirty="0">
                <a:effectLst/>
                <a:latin typeface="system-ui"/>
              </a:rPr>
              <a:t>）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：消息结构 </a:t>
            </a:r>
            <a:r>
              <a:rPr lang="en-US" altLang="zh-CN" b="0" i="0" dirty="0">
                <a:effectLst/>
                <a:latin typeface="system-ui"/>
              </a:rPr>
              <a:t>- </a:t>
            </a:r>
            <a:r>
              <a:rPr lang="zh-CN" altLang="en-US" b="0" i="0" dirty="0">
                <a:effectLst/>
                <a:latin typeface="system-ui"/>
              </a:rPr>
              <a:t>消息体与</a:t>
            </a:r>
            <a:r>
              <a:rPr lang="en-US" altLang="zh-CN" b="0" i="0" dirty="0">
                <a:effectLst/>
                <a:latin typeface="system-ui"/>
              </a:rPr>
              <a:t>TLV</a:t>
            </a:r>
            <a:r>
              <a:rPr lang="zh-CN" altLang="en-US" b="0" i="0" dirty="0">
                <a:effectLst/>
                <a:latin typeface="system-ui"/>
              </a:rPr>
              <a:t>参数编码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消息体</a:t>
            </a:r>
            <a:r>
              <a:rPr lang="zh-CN" altLang="en-US" b="0" i="0" dirty="0">
                <a:effectLst/>
                <a:latin typeface="system-ui"/>
              </a:rPr>
              <a:t>：由</a:t>
            </a:r>
            <a:r>
              <a:rPr lang="en-US" altLang="zh-CN" b="0" i="0" dirty="0">
                <a:effectLst/>
                <a:latin typeface="system-ui"/>
              </a:rPr>
              <a:t>N</a:t>
            </a:r>
            <a:r>
              <a:rPr lang="zh-CN" altLang="en-US" b="0" i="0" dirty="0">
                <a:effectLst/>
                <a:latin typeface="system-ui"/>
              </a:rPr>
              <a:t>个“消息包”组成。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命令码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字节）：指示消息类型（如</a:t>
            </a:r>
            <a:r>
              <a:rPr lang="en-US" altLang="zh-CN" b="0" i="0" dirty="0">
                <a:effectLst/>
                <a:latin typeface="system-ui"/>
              </a:rPr>
              <a:t>0x1A=</a:t>
            </a:r>
            <a:r>
              <a:rPr lang="zh-CN" altLang="en-US" b="0" i="0" dirty="0">
                <a:effectLst/>
                <a:latin typeface="system-ui"/>
              </a:rPr>
              <a:t>开始充电）。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参数长度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字节）：后续所有参数的总长度。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参数值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1" i="0" dirty="0">
                <a:effectLst/>
                <a:latin typeface="system-ui"/>
              </a:rPr>
              <a:t>TLV</a:t>
            </a:r>
            <a:r>
              <a:rPr lang="zh-CN" altLang="en-US" b="1" i="0" dirty="0">
                <a:effectLst/>
                <a:latin typeface="system-ui"/>
              </a:rPr>
              <a:t>编码</a:t>
            </a:r>
            <a:r>
              <a:rPr lang="zh-CN" altLang="en-US" b="0" i="0" dirty="0">
                <a:effectLst/>
                <a:latin typeface="system-ui"/>
              </a:rPr>
              <a:t>的参数列表。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TLV</a:t>
            </a:r>
            <a:r>
              <a:rPr lang="zh-CN" altLang="en-US" b="1" i="0" dirty="0">
                <a:effectLst/>
                <a:latin typeface="system-ui"/>
              </a:rPr>
              <a:t>编码（类型</a:t>
            </a:r>
            <a:r>
              <a:rPr lang="en-US" altLang="zh-CN" b="1" i="0" dirty="0">
                <a:effectLst/>
                <a:latin typeface="system-ui"/>
              </a:rPr>
              <a:t>-</a:t>
            </a:r>
            <a:r>
              <a:rPr lang="zh-CN" altLang="en-US" b="1" i="0" dirty="0">
                <a:effectLst/>
                <a:latin typeface="system-ui"/>
              </a:rPr>
              <a:t>长度</a:t>
            </a:r>
            <a:r>
              <a:rPr lang="en-US" altLang="zh-CN" b="1" i="0" dirty="0">
                <a:effectLst/>
                <a:latin typeface="system-ui"/>
              </a:rPr>
              <a:t>-</a:t>
            </a:r>
            <a:r>
              <a:rPr lang="zh-CN" altLang="en-US" b="1" i="0" dirty="0">
                <a:effectLst/>
                <a:latin typeface="system-ui"/>
              </a:rPr>
              <a:t>值）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Type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字节）：参数唯一标识（如</a:t>
            </a:r>
            <a:r>
              <a:rPr lang="en-US" altLang="zh-CN" b="0" i="0" dirty="0">
                <a:effectLst/>
                <a:latin typeface="system-ui"/>
              </a:rPr>
              <a:t>0x0001=</a:t>
            </a:r>
            <a:r>
              <a:rPr lang="zh-CN" altLang="en-US" b="0" i="0" dirty="0">
                <a:effectLst/>
                <a:latin typeface="system-ui"/>
              </a:rPr>
              <a:t>车位标识）。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Length</a:t>
            </a:r>
            <a:r>
              <a:rPr lang="zh-CN" altLang="en-US" b="0" i="0" dirty="0">
                <a:effectLst/>
                <a:latin typeface="system-ui"/>
              </a:rPr>
              <a:t>（</a:t>
            </a:r>
            <a:r>
              <a:rPr lang="en-US" altLang="zh-CN" b="0" i="0" dirty="0">
                <a:effectLst/>
                <a:latin typeface="system-ui"/>
              </a:rPr>
              <a:t>2</a:t>
            </a:r>
            <a:r>
              <a:rPr lang="zh-CN" altLang="en-US" b="0" i="0" dirty="0">
                <a:effectLst/>
                <a:latin typeface="system-ui"/>
              </a:rPr>
              <a:t>字节）：</a:t>
            </a:r>
            <a:r>
              <a:rPr lang="en-US" altLang="zh-CN" b="0" i="0" dirty="0">
                <a:effectLst/>
                <a:latin typeface="system-ui"/>
              </a:rPr>
              <a:t>Value</a:t>
            </a:r>
            <a:r>
              <a:rPr lang="zh-CN" altLang="en-US" b="0" i="0" dirty="0">
                <a:effectLst/>
                <a:latin typeface="system-ui"/>
              </a:rPr>
              <a:t>字段的字节长度。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Value</a:t>
            </a:r>
            <a:r>
              <a:rPr lang="zh-CN" altLang="en-US" b="0" i="0" dirty="0">
                <a:effectLst/>
                <a:latin typeface="system-ui"/>
              </a:rPr>
              <a:t>（变长）：参数的实际值（支持多种数据类型）。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优势</a:t>
            </a:r>
            <a:r>
              <a:rPr lang="zh-CN" altLang="en-US" b="0" i="0" dirty="0">
                <a:effectLst/>
                <a:latin typeface="system-ui"/>
              </a:rPr>
              <a:t>：自描述、强扩展性，易于解析和兼容新参数。</a:t>
            </a:r>
          </a:p>
        </p:txBody>
      </p:sp>
    </p:spTree>
    <p:extLst>
      <p:ext uri="{BB962C8B-B14F-4D97-AF65-F5344CB8AC3E}">
        <p14:creationId xmlns:p14="http://schemas.microsoft.com/office/powerpoint/2010/main" val="365335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090A-AE96-0F9B-68C1-5773356F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3248C67-7B33-EE91-1948-211195BEB62B}"/>
              </a:ext>
            </a:extLst>
          </p:cNvPr>
          <p:cNvSpPr txBox="1"/>
          <p:nvPr/>
        </p:nvSpPr>
        <p:spPr>
          <a:xfrm>
            <a:off x="184727" y="240298"/>
            <a:ext cx="8622145" cy="166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四、接口与消息规范 </a:t>
            </a:r>
            <a:r>
              <a:rPr lang="en-US" altLang="zh-CN" b="1" i="0" dirty="0">
                <a:effectLst/>
                <a:latin typeface="system-ui"/>
              </a:rPr>
              <a:t>- TLV</a:t>
            </a:r>
            <a:r>
              <a:rPr lang="zh-CN" altLang="en-US" b="1" i="0" dirty="0">
                <a:effectLst/>
                <a:latin typeface="system-ui"/>
              </a:rPr>
              <a:t>编码示例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TLV</a:t>
            </a:r>
            <a:r>
              <a:rPr lang="zh-CN" altLang="en-US" b="0" i="0" dirty="0">
                <a:effectLst/>
                <a:latin typeface="system-ui"/>
              </a:rPr>
              <a:t>参数编码实例</a:t>
            </a:r>
          </a:p>
          <a:p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zh-CN" altLang="en-US" b="1" dirty="0">
                <a:effectLst/>
              </a:rPr>
              <a:t>开始充电命令中的参数</a:t>
            </a:r>
            <a:endParaRPr lang="zh-CN" altLang="en-US" dirty="0"/>
          </a:p>
          <a:p>
            <a:br>
              <a:rPr lang="zh-CN" altLang="en-US" dirty="0"/>
            </a:br>
            <a:endParaRPr lang="zh-CN" altLang="en-US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68414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B1E4-EF7D-5038-9B98-E65F4D28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0A02C2C-7466-D860-9A9F-C7220F4C8223}"/>
              </a:ext>
            </a:extLst>
          </p:cNvPr>
          <p:cNvSpPr txBox="1"/>
          <p:nvPr/>
        </p:nvSpPr>
        <p:spPr>
          <a:xfrm>
            <a:off x="184727" y="138545"/>
            <a:ext cx="8954654" cy="426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0"/>
              </a:lnSpc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system-ui"/>
              </a:rPr>
              <a:t>五、安全与关键特性总结</a:t>
            </a:r>
            <a:endParaRPr lang="zh-CN" altLang="en-US" b="0" i="0" dirty="0">
              <a:effectLst/>
              <a:latin typeface="system-ui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标题</a:t>
            </a:r>
            <a:r>
              <a:rPr lang="zh-CN" altLang="en-US" b="0" i="0" dirty="0">
                <a:effectLst/>
                <a:latin typeface="system-ui"/>
              </a:rPr>
              <a:t>：协议核心特性与安全机制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内容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安全机制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设备鉴权</a:t>
            </a:r>
            <a:r>
              <a:rPr lang="zh-CN" altLang="en-US" b="0" i="0" dirty="0">
                <a:effectLst/>
                <a:latin typeface="system-ui"/>
              </a:rPr>
              <a:t>：双向认证（</a:t>
            </a:r>
            <a:r>
              <a:rPr lang="en-US" altLang="zh-CN" b="0" i="0" dirty="0">
                <a:effectLst/>
                <a:latin typeface="system-ui"/>
              </a:rPr>
              <a:t>IVU ↔ CSU ↔ WCCMS</a:t>
            </a:r>
            <a:r>
              <a:rPr lang="zh-CN" altLang="en-US" b="0" i="0" dirty="0">
                <a:effectLst/>
                <a:latin typeface="system-ui"/>
              </a:rPr>
              <a:t>），防止非法设备接入。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信令加密与完整性保护</a:t>
            </a:r>
            <a:r>
              <a:rPr lang="zh-CN" altLang="en-US" b="0" i="0" dirty="0">
                <a:effectLst/>
                <a:latin typeface="system-ui"/>
              </a:rPr>
              <a:t>：防止数据篡改与窃听。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异常处理与保活机制</a:t>
            </a:r>
            <a:r>
              <a:rPr lang="zh-CN" altLang="en-US" b="0" i="0" dirty="0">
                <a:effectLst/>
                <a:latin typeface="system-ui"/>
              </a:rPr>
              <a:t>：超时断连，故障即时停止充电，保障安全。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关键特性</a:t>
            </a:r>
            <a:r>
              <a:rPr lang="zh-CN" altLang="en-US" b="0" i="0" dirty="0">
                <a:effectLst/>
                <a:latin typeface="system-ui"/>
              </a:rPr>
              <a:t>：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结构化设计</a:t>
            </a:r>
            <a:r>
              <a:rPr lang="zh-CN" altLang="en-US" b="0" i="0" dirty="0">
                <a:effectLst/>
                <a:latin typeface="system-ui"/>
              </a:rPr>
              <a:t>：层次清晰（消息头</a:t>
            </a:r>
            <a:r>
              <a:rPr lang="en-US" altLang="zh-CN" b="0" i="0" dirty="0">
                <a:effectLst/>
                <a:latin typeface="system-ui"/>
              </a:rPr>
              <a:t>-</a:t>
            </a:r>
            <a:r>
              <a:rPr lang="zh-CN" altLang="en-US" b="0" i="0" dirty="0">
                <a:effectLst/>
                <a:latin typeface="system-ui"/>
              </a:rPr>
              <a:t>消息包</a:t>
            </a:r>
            <a:r>
              <a:rPr lang="en-US" altLang="zh-CN" b="0" i="0" dirty="0">
                <a:effectLst/>
                <a:latin typeface="system-ui"/>
              </a:rPr>
              <a:t>-TLV</a:t>
            </a:r>
            <a:r>
              <a:rPr lang="zh-CN" altLang="en-US" b="0" i="0" dirty="0">
                <a:effectLst/>
                <a:latin typeface="system-ui"/>
              </a:rPr>
              <a:t>参数）。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灵活性与扩展性</a:t>
            </a:r>
            <a:r>
              <a:rPr lang="zh-CN" altLang="en-US" b="0" i="0" dirty="0">
                <a:effectLst/>
                <a:latin typeface="system-ui"/>
              </a:rPr>
              <a:t>：</a:t>
            </a:r>
            <a:r>
              <a:rPr lang="en-US" altLang="zh-CN" b="0" i="0" dirty="0">
                <a:effectLst/>
                <a:latin typeface="system-ui"/>
              </a:rPr>
              <a:t>TLV</a:t>
            </a:r>
            <a:r>
              <a:rPr lang="zh-CN" altLang="en-US" b="0" i="0" dirty="0">
                <a:effectLst/>
                <a:latin typeface="system-ui"/>
              </a:rPr>
              <a:t>编码易于增加新参数而不影响旧版本。</a:t>
            </a:r>
          </a:p>
          <a:p>
            <a:pPr marL="1143000" lvl="2" indent="-22860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可靠性</a:t>
            </a:r>
            <a:r>
              <a:rPr lang="zh-CN" altLang="en-US" b="0" i="0" dirty="0">
                <a:effectLst/>
                <a:latin typeface="system-ui"/>
              </a:rPr>
              <a:t>：序列号、校验和、确认响应机制保证通信可靠。</a:t>
            </a:r>
          </a:p>
        </p:txBody>
      </p:sp>
    </p:spTree>
    <p:extLst>
      <p:ext uri="{BB962C8B-B14F-4D97-AF65-F5344CB8AC3E}">
        <p14:creationId xmlns:p14="http://schemas.microsoft.com/office/powerpoint/2010/main" val="88099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B12C3-D35C-2804-B8DB-236A54AB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4933B51-8531-AD70-66F7-91A1722CF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75769"/>
              </p:ext>
            </p:extLst>
          </p:nvPr>
        </p:nvGraphicFramePr>
        <p:xfrm>
          <a:off x="314036" y="184728"/>
          <a:ext cx="11804073" cy="576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946">
                  <a:extLst>
                    <a:ext uri="{9D8B030D-6E8A-4147-A177-3AD203B41FA5}">
                      <a16:colId xmlns:a16="http://schemas.microsoft.com/office/drawing/2014/main" val="2497024004"/>
                    </a:ext>
                  </a:extLst>
                </a:gridCol>
                <a:gridCol w="2948709">
                  <a:extLst>
                    <a:ext uri="{9D8B030D-6E8A-4147-A177-3AD203B41FA5}">
                      <a16:colId xmlns:a16="http://schemas.microsoft.com/office/drawing/2014/main" val="261708209"/>
                    </a:ext>
                  </a:extLst>
                </a:gridCol>
                <a:gridCol w="2948709">
                  <a:extLst>
                    <a:ext uri="{9D8B030D-6E8A-4147-A177-3AD203B41FA5}">
                      <a16:colId xmlns:a16="http://schemas.microsoft.com/office/drawing/2014/main" val="3428059139"/>
                    </a:ext>
                  </a:extLst>
                </a:gridCol>
                <a:gridCol w="2948709">
                  <a:extLst>
                    <a:ext uri="{9D8B030D-6E8A-4147-A177-3AD203B41FA5}">
                      <a16:colId xmlns:a16="http://schemas.microsoft.com/office/drawing/2014/main" val="3793470897"/>
                    </a:ext>
                  </a:extLst>
                </a:gridCol>
              </a:tblGrid>
              <a:tr h="668400">
                <a:tc>
                  <a:txBody>
                    <a:bodyPr/>
                    <a:lstStyle/>
                    <a:p>
                      <a:r>
                        <a:rPr lang="zh-CN" altLang="en-US" dirty="0"/>
                        <a:t>区别维度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IEC61980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GB/T38775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904198"/>
                  </a:ext>
                </a:extLst>
              </a:tr>
              <a:tr h="92949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结构与覆盖范围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系列化（</a:t>
                      </a:r>
                      <a:r>
                        <a:rPr lang="en-US" altLang="zh-CN" sz="1200" dirty="0"/>
                        <a:t>1-</a:t>
                      </a:r>
                      <a:r>
                        <a:rPr lang="zh-CN" altLang="en-US" sz="1200" dirty="0"/>
                        <a:t>通用、</a:t>
                      </a:r>
                      <a:r>
                        <a:rPr lang="en-US" altLang="zh-CN" sz="1200" dirty="0"/>
                        <a:t>2-</a:t>
                      </a:r>
                      <a:r>
                        <a:rPr lang="zh-CN" altLang="en-US" sz="1200" dirty="0"/>
                        <a:t>通讯、</a:t>
                      </a:r>
                      <a:r>
                        <a:rPr lang="en-US" altLang="zh-CN" sz="1200" dirty="0"/>
                        <a:t>3-MF</a:t>
                      </a:r>
                      <a:r>
                        <a:rPr lang="zh-CN" altLang="en-US" sz="1200" dirty="0"/>
                        <a:t>具体），全球通用，基础设施测为主（</a:t>
                      </a:r>
                      <a:r>
                        <a:rPr lang="en-US" altLang="zh-CN" sz="1200" dirty="0"/>
                        <a:t>off-board</a:t>
                      </a:r>
                      <a:r>
                        <a:rPr lang="zh-CN" altLang="en-US" sz="1200" dirty="0"/>
                        <a:t>）</a:t>
                      </a:r>
                      <a:r>
                        <a:rPr lang="en-US" altLang="zh-CN" sz="1200" dirty="0"/>
                        <a:t>,</a:t>
                      </a:r>
                      <a:r>
                        <a:rPr lang="zh-CN" altLang="en-US" sz="1200" dirty="0"/>
                        <a:t>车辆侧参考</a:t>
                      </a:r>
                      <a:r>
                        <a:rPr lang="en-US" altLang="zh-CN" sz="1200" dirty="0"/>
                        <a:t>ISO 19363.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首批</a:t>
                      </a:r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个项（</a:t>
                      </a:r>
                      <a:r>
                        <a:rPr lang="en-US" altLang="zh-CN" sz="1200" dirty="0"/>
                        <a:t>1-</a:t>
                      </a:r>
                      <a:r>
                        <a:rPr lang="zh-CN" altLang="en-US" sz="1200" dirty="0"/>
                        <a:t>通用、</a:t>
                      </a:r>
                      <a:r>
                        <a:rPr lang="en-US" altLang="zh-CN" sz="1200" dirty="0"/>
                        <a:t>2-</a:t>
                      </a:r>
                      <a:r>
                        <a:rPr lang="zh-CN" altLang="en-US" sz="1200" dirty="0"/>
                        <a:t>通信、</a:t>
                      </a:r>
                      <a:r>
                        <a:rPr lang="en-US" altLang="zh-CN" sz="1200" dirty="0"/>
                        <a:t>3-</a:t>
                      </a:r>
                      <a:r>
                        <a:rPr lang="zh-CN" altLang="en-US" sz="1200" dirty="0"/>
                        <a:t>特殊、</a:t>
                      </a:r>
                      <a:r>
                        <a:rPr lang="en-US" altLang="zh-CN" sz="1200" dirty="0"/>
                        <a:t>4-EMC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086603"/>
                  </a:ext>
                </a:extLst>
              </a:tr>
              <a:tr h="66840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功率级别与频率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3.7~22KW,</a:t>
                      </a:r>
                      <a:r>
                        <a:rPr lang="zh-CN" altLang="en-US" sz="1200" dirty="0"/>
                        <a:t>频率</a:t>
                      </a:r>
                      <a:r>
                        <a:rPr lang="en-US" altLang="zh-CN" sz="1200" dirty="0"/>
                        <a:t>81.38-90kHZ</a:t>
                      </a:r>
                      <a:r>
                        <a:rPr lang="zh-CN" altLang="en-US" sz="1200" dirty="0"/>
                        <a:t>。支持扩展更高功率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相同（</a:t>
                      </a:r>
                      <a:r>
                        <a:rPr lang="en-US" altLang="zh-CN" sz="1200" dirty="0"/>
                        <a:t>3.7/7.7/11/22</a:t>
                      </a:r>
                      <a:r>
                        <a:rPr lang="zh-CN" altLang="en-US" sz="1200" dirty="0"/>
                        <a:t>），频率相同。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基本一致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53219"/>
                  </a:ext>
                </a:extLst>
              </a:tr>
              <a:tr h="66840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通讯协议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基于</a:t>
                      </a:r>
                      <a:r>
                        <a:rPr lang="en-US" altLang="zh-CN" sz="1200" dirty="0"/>
                        <a:t>ISO 15118-2/8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WLAN+LF/LPE,</a:t>
                      </a:r>
                      <a:r>
                        <a:rPr lang="zh-CN" altLang="en-US" sz="1200" dirty="0"/>
                        <a:t>消息序列详细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类似，但指定</a:t>
                      </a:r>
                      <a:r>
                        <a:rPr lang="en-US" altLang="zh-CN" sz="1200" dirty="0"/>
                        <a:t>CSU-IVU-WCCMS</a:t>
                      </a:r>
                      <a:r>
                        <a:rPr lang="zh-CN" altLang="en-US" sz="1200" dirty="0"/>
                        <a:t>三方协议，参考</a:t>
                      </a:r>
                      <a:r>
                        <a:rPr lang="en-US" altLang="zh-CN" sz="1200" dirty="0"/>
                        <a:t>ISO15118</a:t>
                      </a:r>
                      <a:r>
                        <a:rPr lang="zh-CN" altLang="en-US" sz="1200" dirty="0"/>
                        <a:t>，支持本土加密（</a:t>
                      </a:r>
                      <a:r>
                        <a:rPr lang="en-US" altLang="zh-CN" sz="1200" dirty="0" err="1"/>
                        <a:t>PNnC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GB/T</a:t>
                      </a:r>
                      <a:r>
                        <a:rPr lang="zh-CN" altLang="en-US" sz="1200" dirty="0"/>
                        <a:t>增加管理系统（</a:t>
                      </a:r>
                      <a:r>
                        <a:rPr lang="en-US" altLang="zh-CN" sz="1200" dirty="0"/>
                        <a:t>WCCMS</a:t>
                      </a:r>
                      <a:r>
                        <a:rPr lang="zh-CN" altLang="en-US" sz="1200" dirty="0"/>
                        <a:t>）交互，适用于中国云控平台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604905"/>
                  </a:ext>
                </a:extLst>
              </a:tr>
              <a:tr h="66840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EMC</a:t>
                      </a:r>
                      <a:r>
                        <a:rPr lang="zh-CN" altLang="en-US" sz="1200" dirty="0"/>
                        <a:t>与安全要求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EMC</a:t>
                      </a:r>
                      <a:r>
                        <a:rPr lang="zh-CN" altLang="en-US" sz="1200" dirty="0"/>
                        <a:t>符合</a:t>
                      </a:r>
                      <a:r>
                        <a:rPr lang="en-US" altLang="zh-CN" sz="1200" dirty="0"/>
                        <a:t>CISPR 11/IEC 61000,EMF</a:t>
                      </a:r>
                      <a:r>
                        <a:rPr lang="zh-CN" altLang="en-US" sz="1200" dirty="0"/>
                        <a:t>现值</a:t>
                      </a:r>
                      <a:r>
                        <a:rPr lang="en-US" altLang="zh-CN" sz="1200" dirty="0"/>
                        <a:t>ICNIRP 2010</a:t>
                      </a:r>
                      <a:r>
                        <a:rPr lang="zh-CN" altLang="en-US" sz="1200" dirty="0"/>
                        <a:t>。安全响应</a:t>
                      </a:r>
                      <a:r>
                        <a:rPr lang="en-US" altLang="zh-CN" sz="1200" dirty="0"/>
                        <a:t>&lt;100ms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EMC</a:t>
                      </a:r>
                      <a:r>
                        <a:rPr lang="zh-CN" altLang="en-US" sz="1200" dirty="0"/>
                        <a:t>更严格（</a:t>
                      </a:r>
                      <a:r>
                        <a:rPr lang="en-US" altLang="zh-CN" sz="1200" dirty="0"/>
                        <a:t>GB/T 38775.4</a:t>
                      </a:r>
                      <a:r>
                        <a:rPr lang="zh-CN" altLang="en-US" sz="1200" dirty="0"/>
                        <a:t>专用限制：电场</a:t>
                      </a:r>
                      <a:r>
                        <a:rPr lang="en-US" altLang="zh-CN" sz="1200" dirty="0"/>
                        <a:t>&lt;61 </a:t>
                      </a:r>
                      <a:r>
                        <a:rPr lang="en-US" altLang="zh-CN" sz="1200" dirty="0" err="1"/>
                        <a:t>dBuV</a:t>
                      </a:r>
                      <a:r>
                        <a:rPr lang="en-US" altLang="zh-CN" sz="1200" dirty="0"/>
                        <a:t>/m</a:t>
                      </a:r>
                      <a:r>
                        <a:rPr lang="zh-CN" altLang="en-US" sz="1200" dirty="0"/>
                        <a:t>，磁场</a:t>
                      </a:r>
                      <a:r>
                        <a:rPr lang="en-US" altLang="zh-CN" sz="1200" dirty="0"/>
                        <a:t>&lt;137dBuA/m</a:t>
                      </a:r>
                      <a:r>
                        <a:rPr lang="zh-CN" altLang="en-US" sz="1200" dirty="0"/>
                        <a:t>）</a:t>
                      </a:r>
                      <a:r>
                        <a:rPr lang="en-US" altLang="zh-CN" sz="1200" dirty="0"/>
                        <a:t>,</a:t>
                      </a:r>
                      <a:r>
                        <a:rPr lang="zh-CN" altLang="en-US" sz="1200" dirty="0"/>
                        <a:t>测试方法本土化。安全类似，但增加振动环境测试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区别，针对中国城市电磁环境优化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785316"/>
                  </a:ext>
                </a:extLst>
              </a:tr>
              <a:tr h="66840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互操作性与测试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通过</a:t>
                      </a:r>
                      <a:r>
                        <a:rPr lang="en-US" altLang="zh-CN" sz="1200" dirty="0"/>
                        <a:t>A/B</a:t>
                      </a:r>
                      <a:r>
                        <a:rPr lang="zh-CN" altLang="en-US" sz="1200" dirty="0"/>
                        <a:t>类兼容，参考设备测试</a:t>
                      </a:r>
                      <a:r>
                        <a:rPr lang="en-US" altLang="zh-CN" sz="1200" dirty="0"/>
                        <a:t>Annex A-E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专业部分（）定义车辆端互操作测试，参考</a:t>
                      </a:r>
                      <a:r>
                        <a:rPr lang="en-US" altLang="zh-CN" sz="1200" dirty="0"/>
                        <a:t>SAE J2954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834698"/>
                  </a:ext>
                </a:extLst>
              </a:tr>
              <a:tr h="66840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应用场景与实施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全球市场，强调动态充电扩展（</a:t>
                      </a:r>
                      <a:r>
                        <a:rPr lang="en-US" altLang="zh-CN" sz="1200" dirty="0"/>
                        <a:t>IEC 61980-6</a:t>
                      </a:r>
                      <a:r>
                        <a:rPr lang="zh-CN" altLang="en-US" sz="1200" dirty="0"/>
                        <a:t>）。不强制车辆侧</a:t>
                      </a:r>
                      <a:r>
                        <a:rPr lang="en-US" altLang="zh-CN" sz="1200" dirty="0"/>
                        <a:t>EMC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中国市场，静态为主，公共场所优先，强制内外</a:t>
                      </a:r>
                      <a:r>
                        <a:rPr lang="en-US" altLang="zh-CN" sz="1200" dirty="0"/>
                        <a:t>EMC</a:t>
                      </a:r>
                      <a:r>
                        <a:rPr lang="zh-CN" altLang="en-US" sz="1200" dirty="0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16416"/>
                  </a:ext>
                </a:extLst>
              </a:tr>
              <a:tr h="66840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770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03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85A0-00F7-2201-AEDC-39628B08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750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AD98-6330-2AAA-FEFE-C3097104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060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44091-6B3C-FD62-37F6-CB3E6152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451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B59B-2411-F6F1-8441-D6E3376B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593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4222</TotalTime>
  <Words>1194</Words>
  <Application>Microsoft Office PowerPoint</Application>
  <PresentationFormat>宽屏</PresentationFormat>
  <Paragraphs>124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system-ui</vt:lpstr>
      <vt:lpstr>等线</vt:lpstr>
      <vt:lpstr>等线 Light</vt:lpstr>
      <vt:lpstr>Arial</vt:lpstr>
      <vt:lpstr>Calibri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Shenglin Chen</dc:creator>
  <cp:lastModifiedBy>Shenglin Chen</cp:lastModifiedBy>
  <cp:revision>18</cp:revision>
  <dcterms:created xsi:type="dcterms:W3CDTF">2025-11-03T05:36:55Z</dcterms:created>
  <dcterms:modified xsi:type="dcterms:W3CDTF">2025-11-10T01:03:47Z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2025-11-03T05:37:12Z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981993bb-ed71-4f29-993e-84040a332d89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MAHLE internal restricted (CL2)</vt:lpwstr>
  </property>
</Properties>
</file>