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1" r:id="rId6"/>
    <p:sldId id="262" r:id="rId7"/>
    <p:sldId id="285" r:id="rId8"/>
    <p:sldId id="280" r:id="rId9"/>
    <p:sldId id="263" r:id="rId10"/>
    <p:sldId id="282" r:id="rId11"/>
    <p:sldId id="264" r:id="rId12"/>
    <p:sldId id="265" r:id="rId13"/>
    <p:sldId id="267" r:id="rId14"/>
    <p:sldId id="281" r:id="rId15"/>
    <p:sldId id="268" r:id="rId16"/>
    <p:sldId id="269" r:id="rId17"/>
    <p:sldId id="284" r:id="rId18"/>
    <p:sldId id="270" r:id="rId19"/>
    <p:sldId id="283" r:id="rId20"/>
    <p:sldId id="271" r:id="rId21"/>
    <p:sldId id="272" r:id="rId22"/>
    <p:sldId id="286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A94336-C188-41E9-BE59-BC0B904938E1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E231DF-C05B-4812-9B8B-8B1378B932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332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9B4168-A0D8-8040-46F7-1C4E692241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C2C0706-3AB9-5277-702A-CF1CF05AC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C67D4A-0B91-27CC-33E5-01B903E31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39F15-F7D9-46B5-B6C0-E8A8C7198EF0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8E572E-AF8D-60DB-1139-7DAC77F27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CAA27F-5BD5-B8F2-BD72-3A19265A1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920B9-9CFD-43DD-9D97-356A12AD4D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173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04B3B-B997-CF91-1D2F-CC8160CC0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89893D-48A4-5957-B5C6-2A3A48627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C734C1-F6C6-0358-CD63-2AC93D422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39F15-F7D9-46B5-B6C0-E8A8C7198EF0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7B2676-19DE-F9D3-EF06-E6112C65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3316EC-111A-F412-D6EB-E8AF61F8A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920B9-9CFD-43DD-9D97-356A12AD4D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798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01581-BA0D-D204-3657-6ED4F492F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18B785-E7E3-CC76-DF71-F5DB8D5F81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BBA8EE-1E6D-94DB-8384-EB587A86F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39F15-F7D9-46B5-B6C0-E8A8C7198EF0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4ECC58-14A5-16A1-F5DF-681F5093F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779524-ABB1-AF6E-6B2E-7E844A660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920B9-9CFD-43DD-9D97-356A12AD4D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230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27413B-F939-76C4-6B98-7F1C46A04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A3047F-C8F3-494E-5B23-373D0A2A4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957380-0763-BA86-0851-8D53FE26D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2567E1-AFD6-020C-46EE-49C5BD093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39F15-F7D9-46B5-B6C0-E8A8C7198EF0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74588E-BF00-2321-0DF6-53A14C449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AA5BAF-56E1-36AF-1CD0-22E4BFEC2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920B9-9CFD-43DD-9D97-356A12AD4D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994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3127BA-7661-DF8F-053D-A4BA3731F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7203FE-B978-0E47-2E3D-4695C8905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5C51E3-9450-34C3-4D35-53E4CE7C9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3C099DB-AD7D-2257-853B-2B50905954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3D9E35E-C3B6-1B25-0A38-B69E4E1616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4203ED7-4C41-7EE8-F19B-F6E0C1B3F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39F15-F7D9-46B5-B6C0-E8A8C7198EF0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E051D33-08CB-04B6-28C8-7C9A8665C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B1D8AF5-013C-E310-8311-72F204F85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920B9-9CFD-43DD-9D97-356A12AD4D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391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5FA938-128D-8543-91A4-086F981BB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D389723-BAD6-BF9F-A7FF-557C5E263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39F15-F7D9-46B5-B6C0-E8A8C7198EF0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5C51D06-A278-89EA-5AEC-B98765924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B8FE72-C080-F3C6-730B-4EF5C2664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920B9-9CFD-43DD-9D97-356A12AD4D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044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02269FD-A112-A0E2-BBDF-EEA35C85A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39F15-F7D9-46B5-B6C0-E8A8C7198EF0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715031F-86AA-7C47-1909-36357F2B8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DA02CA-A677-EC05-21F8-89528E866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920B9-9CFD-43DD-9D97-356A12AD4D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6537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AA8780-DFA3-90BB-754C-451113ACA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AF4D34-52CB-EF24-17A5-A83C0EBB0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63A2DE4-3398-006F-2B60-BD0FA17983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2A1499-6E14-46BE-0A37-00624B486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39F15-F7D9-46B5-B6C0-E8A8C7198EF0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F2CD4F-D641-1E6E-3FF1-592E71167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CCEA03-0268-E5C3-27FA-389ED192B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920B9-9CFD-43DD-9D97-356A12AD4D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234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2348B-5D63-97ED-95EB-20C1557DC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549BEC3-E048-FB48-2124-54C2FB2670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B4197C-FEC2-E8B0-8AD7-336468E467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19FB53-E5AA-5AB7-74C0-3226366F6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39F15-F7D9-46B5-B6C0-E8A8C7198EF0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331AA7-28C7-BDE3-BA2E-8192BB4CF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D95AF2-C143-C956-1265-E6942EF7A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920B9-9CFD-43DD-9D97-356A12AD4D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106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9C1271-2BC1-C156-696C-6B5736ACC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FBFEB08-18D8-1CAF-14C9-2B86691A3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31A5BD-B7BF-F03C-3F9F-8B8751CDC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39F15-F7D9-46B5-B6C0-E8A8C7198EF0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B03132-459F-2487-5C0B-38F181049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5CA91A-8E49-4EAD-C69D-A58DDBE3C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920B9-9CFD-43DD-9D97-356A12AD4D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169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DDC9C9B-88DD-BEE3-0D72-87B6D44164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8F2163-C30A-BDA8-5B38-0E74279EB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A3C239-2895-429A-7688-BA103BDA8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39F15-F7D9-46B5-B6C0-E8A8C7198EF0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75A559-BE98-DF5B-24B1-1E5AF090C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FEA389-BCFC-5063-AE96-F7040E9A2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920B9-9CFD-43DD-9D97-356A12AD4D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956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with picture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ihandform: Form 40">
            <a:extLst>
              <a:ext uri="{FF2B5EF4-FFF2-40B4-BE49-F238E27FC236}">
                <a16:creationId xmlns:a16="http://schemas.microsoft.com/office/drawing/2014/main" id="{22975758-D010-4F20-ADE2-EA85EBA82112}"/>
              </a:ext>
            </a:extLst>
          </p:cNvPr>
          <p:cNvSpPr/>
          <p:nvPr userDrawn="1"/>
        </p:nvSpPr>
        <p:spPr>
          <a:xfrm>
            <a:off x="0" y="5949280"/>
            <a:ext cx="12191997" cy="908720"/>
          </a:xfrm>
          <a:custGeom>
            <a:avLst/>
            <a:gdLst>
              <a:gd name="connsiteX0" fmla="*/ 0 w 12191997"/>
              <a:gd name="connsiteY0" fmla="*/ 0 h 908720"/>
              <a:gd name="connsiteX1" fmla="*/ 12191997 w 12191997"/>
              <a:gd name="connsiteY1" fmla="*/ 0 h 908720"/>
              <a:gd name="connsiteX2" fmla="*/ 12191997 w 12191997"/>
              <a:gd name="connsiteY2" fmla="*/ 908720 h 908720"/>
              <a:gd name="connsiteX3" fmla="*/ 1998838 w 12191997"/>
              <a:gd name="connsiteY3" fmla="*/ 908720 h 908720"/>
              <a:gd name="connsiteX4" fmla="*/ 1998838 w 12191997"/>
              <a:gd name="connsiteY4" fmla="*/ 646376 h 908720"/>
              <a:gd name="connsiteX5" fmla="*/ 0 w 12191997"/>
              <a:gd name="connsiteY5" fmla="*/ 646376 h 908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7" h="908720">
                <a:moveTo>
                  <a:pt x="0" y="0"/>
                </a:moveTo>
                <a:lnTo>
                  <a:pt x="12191997" y="0"/>
                </a:lnTo>
                <a:lnTo>
                  <a:pt x="12191997" y="908720"/>
                </a:lnTo>
                <a:lnTo>
                  <a:pt x="1998838" y="908720"/>
                </a:lnTo>
                <a:lnTo>
                  <a:pt x="1998838" y="646376"/>
                </a:lnTo>
                <a:lnTo>
                  <a:pt x="0" y="6463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80000" rIns="108000" bIns="180000" rtlCol="0" anchor="t" anchorCtr="0">
            <a:noAutofit/>
          </a:bodyPr>
          <a:lstStyle/>
          <a:p>
            <a:pPr algn="l"/>
            <a:endParaRPr lang="de-DE" sz="1400" dirty="0" err="1">
              <a:solidFill>
                <a:schemeClr val="tx1"/>
              </a:solidFill>
            </a:endParaRPr>
          </a:p>
        </p:txBody>
      </p:sp>
      <p:sp>
        <p:nvSpPr>
          <p:cNvPr id="4" name="DataOnTitle">
            <a:extLst>
              <a:ext uri="{FF2B5EF4-FFF2-40B4-BE49-F238E27FC236}">
                <a16:creationId xmlns:a16="http://schemas.microsoft.com/office/drawing/2014/main" id="{34379354-5C55-49F6-A6BC-C09B29E8A447}"/>
              </a:ext>
            </a:extLst>
          </p:cNvPr>
          <p:cNvSpPr txBox="1"/>
          <p:nvPr userDrawn="1"/>
        </p:nvSpPr>
        <p:spPr>
          <a:xfrm>
            <a:off x="-2" y="766800"/>
            <a:ext cx="6026400" cy="3348000"/>
          </a:xfrm>
          <a:prstGeom prst="rect">
            <a:avLst/>
          </a:prstGeom>
          <a:solidFill>
            <a:schemeClr val="tx2"/>
          </a:solidFill>
        </p:spPr>
        <p:txBody>
          <a:bodyPr wrap="square" lIns="514800" tIns="1908000" rIns="331200" rtlCol="0" anchor="t" anchorCtr="0">
            <a:noAutofit/>
          </a:bodyPr>
          <a:lstStyle/>
          <a:p>
            <a:pPr algn="l"/>
            <a:r>
              <a: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chemeClr val="l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Shenglin Chen</a:t>
            </a: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chemeClr val="l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</a:t>
            </a:r>
            <a:r>
              <a:rPr kumimoji="0" lang="en-US" altLang="zh-CN" sz="1600" b="0" i="0" u="none" strike="noStrike" kern="1200" cap="none" spc="0" normalizeH="0" baseline="0" dirty="0">
                <a:ln>
                  <a:noFill/>
                </a:ln>
                <a:solidFill>
                  <a:schemeClr val="l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PZDRW</a:t>
            </a:r>
            <a:r>
              <a:rPr kumimoji="0" lang="en-US" sz="1600" b="0" i="0" u="none" strike="noStrike" kern="1200" cap="none" spc="0" normalizeH="0" baseline="0" noProof="1">
                <a:ln>
                  <a:noFill/>
                </a:ln>
                <a:solidFill>
                  <a:schemeClr val="l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BU1 | 2025/11/10</a:t>
            </a:r>
            <a:endParaRPr lang="en-US" sz="1600" noProof="1">
              <a:ln>
                <a:noFill/>
              </a:ln>
              <a:solidFill>
                <a:schemeClr val="l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AC3EF-A1F9-DE47-9DE3-09D9035B9A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4350" y="1096786"/>
            <a:ext cx="4574488" cy="1540800"/>
          </a:xfrm>
          <a:prstGeom prst="rect">
            <a:avLst/>
          </a:prstGeom>
        </p:spPr>
        <p:txBody>
          <a:bodyPr lIns="0" tIns="45720" rIns="91440" bIns="45720" anchor="t" anchorCtr="0"/>
          <a:lstStyle>
            <a:lvl1pPr algn="l">
              <a:lnSpc>
                <a:spcPct val="90000"/>
              </a:lnSpc>
              <a:defRPr sz="3600" spc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1"/>
              <a:t>Add presentation title</a:t>
            </a:r>
          </a:p>
        </p:txBody>
      </p:sp>
      <p:sp>
        <p:nvSpPr>
          <p:cNvPr id="7" name="Textfeld 32">
            <a:extLst>
              <a:ext uri="{FF2B5EF4-FFF2-40B4-BE49-F238E27FC236}">
                <a16:creationId xmlns:a16="http://schemas.microsoft.com/office/drawing/2014/main" id="{C50D179B-09C3-4930-92F8-23675EE7460B}"/>
              </a:ext>
            </a:extLst>
          </p:cNvPr>
          <p:cNvSpPr txBox="1"/>
          <p:nvPr userDrawn="1"/>
        </p:nvSpPr>
        <p:spPr>
          <a:xfrm>
            <a:off x="-2394062" y="1227741"/>
            <a:ext cx="16959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800" dirty="0">
                <a:solidFill>
                  <a:schemeClr val="accent2"/>
                </a:solidFill>
              </a:rPr>
              <a:t>Short titles that cover only one or up to two lines should be used. The title should be aligned left and never centered.</a:t>
            </a:r>
          </a:p>
        </p:txBody>
      </p:sp>
      <p:grpSp>
        <p:nvGrpSpPr>
          <p:cNvPr id="13" name="Gruppieren 37">
            <a:extLst>
              <a:ext uri="{FF2B5EF4-FFF2-40B4-BE49-F238E27FC236}">
                <a16:creationId xmlns:a16="http://schemas.microsoft.com/office/drawing/2014/main" id="{556E1333-081E-4067-BC37-F35D99D461DF}"/>
              </a:ext>
            </a:extLst>
          </p:cNvPr>
          <p:cNvGrpSpPr/>
          <p:nvPr userDrawn="1"/>
        </p:nvGrpSpPr>
        <p:grpSpPr>
          <a:xfrm>
            <a:off x="-572229" y="1297630"/>
            <a:ext cx="204332" cy="532624"/>
            <a:chOff x="12883230" y="3752058"/>
            <a:chExt cx="166020" cy="629938"/>
          </a:xfrm>
        </p:grpSpPr>
        <p:cxnSp>
          <p:nvCxnSpPr>
            <p:cNvPr id="14" name="Gerade Verbindung 38">
              <a:extLst>
                <a:ext uri="{FF2B5EF4-FFF2-40B4-BE49-F238E27FC236}">
                  <a16:creationId xmlns:a16="http://schemas.microsoft.com/office/drawing/2014/main" id="{A89F0E87-0073-4D04-A48E-3A4AB98F6958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 Verbindung 39">
              <a:extLst>
                <a:ext uri="{FF2B5EF4-FFF2-40B4-BE49-F238E27FC236}">
                  <a16:creationId xmlns:a16="http://schemas.microsoft.com/office/drawing/2014/main" id="{2C8412B3-C7F8-4A06-98D2-046CAF6CAE90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feld 44">
            <a:extLst>
              <a:ext uri="{FF2B5EF4-FFF2-40B4-BE49-F238E27FC236}">
                <a16:creationId xmlns:a16="http://schemas.microsoft.com/office/drawing/2014/main" id="{D8BD0A95-2B0B-47C6-A55F-C65D4251DE6D}"/>
              </a:ext>
            </a:extLst>
          </p:cNvPr>
          <p:cNvSpPr txBox="1"/>
          <p:nvPr userDrawn="1"/>
        </p:nvSpPr>
        <p:spPr>
          <a:xfrm>
            <a:off x="12912219" y="2833597"/>
            <a:ext cx="26997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Any picture can be used as a background. If there is no picture available, the title with pattern has to be used. Changing picture: MasterLayout tab &gt; Background image &gt; Insert... &gt;&gt; select picture </a:t>
            </a:r>
            <a:endParaRPr lang="en-US" sz="800" dirty="0">
              <a:solidFill>
                <a:schemeClr val="accent2"/>
              </a:solidFill>
            </a:endParaRPr>
          </a:p>
        </p:txBody>
      </p:sp>
      <p:grpSp>
        <p:nvGrpSpPr>
          <p:cNvPr id="22" name="Gruppieren 45">
            <a:extLst>
              <a:ext uri="{FF2B5EF4-FFF2-40B4-BE49-F238E27FC236}">
                <a16:creationId xmlns:a16="http://schemas.microsoft.com/office/drawing/2014/main" id="{91266ACA-D2C8-473D-A372-94CBBA9DF960}"/>
              </a:ext>
            </a:extLst>
          </p:cNvPr>
          <p:cNvGrpSpPr/>
          <p:nvPr userDrawn="1"/>
        </p:nvGrpSpPr>
        <p:grpSpPr>
          <a:xfrm rot="10800000">
            <a:off x="12561352" y="2804518"/>
            <a:ext cx="204332" cy="532624"/>
            <a:chOff x="12883230" y="3752058"/>
            <a:chExt cx="166020" cy="629938"/>
          </a:xfrm>
        </p:grpSpPr>
        <p:cxnSp>
          <p:nvCxnSpPr>
            <p:cNvPr id="23" name="Gerade Verbindung 46">
              <a:extLst>
                <a:ext uri="{FF2B5EF4-FFF2-40B4-BE49-F238E27FC236}">
                  <a16:creationId xmlns:a16="http://schemas.microsoft.com/office/drawing/2014/main" id="{70FB68A8-1C18-4081-B47D-549D99D7BB22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47">
              <a:extLst>
                <a:ext uri="{FF2B5EF4-FFF2-40B4-BE49-F238E27FC236}">
                  <a16:creationId xmlns:a16="http://schemas.microsoft.com/office/drawing/2014/main" id="{2D05B174-348E-4902-8929-D7F4C1EC5533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feld 40">
            <a:extLst>
              <a:ext uri="{FF2B5EF4-FFF2-40B4-BE49-F238E27FC236}">
                <a16:creationId xmlns:a16="http://schemas.microsoft.com/office/drawing/2014/main" id="{39647BF4-00B1-48E2-913D-AC8714CF5E86}"/>
              </a:ext>
            </a:extLst>
          </p:cNvPr>
          <p:cNvSpPr txBox="1"/>
          <p:nvPr userDrawn="1"/>
        </p:nvSpPr>
        <p:spPr>
          <a:xfrm>
            <a:off x="12911988" y="6216348"/>
            <a:ext cx="26997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A protective space must be kept around the logo. This space must correspond at least to half of the height of the logo. </a:t>
            </a:r>
            <a:endParaRPr lang="en-US" sz="800" dirty="0">
              <a:solidFill>
                <a:schemeClr val="accent2"/>
              </a:solidFill>
            </a:endParaRPr>
          </a:p>
        </p:txBody>
      </p:sp>
      <p:grpSp>
        <p:nvGrpSpPr>
          <p:cNvPr id="26" name="Gruppieren 41">
            <a:extLst>
              <a:ext uri="{FF2B5EF4-FFF2-40B4-BE49-F238E27FC236}">
                <a16:creationId xmlns:a16="http://schemas.microsoft.com/office/drawing/2014/main" id="{95A80A95-707B-46E5-B67D-4439C8FDFD9E}"/>
              </a:ext>
            </a:extLst>
          </p:cNvPr>
          <p:cNvGrpSpPr/>
          <p:nvPr userDrawn="1"/>
        </p:nvGrpSpPr>
        <p:grpSpPr>
          <a:xfrm rot="10800000">
            <a:off x="12561352" y="6187719"/>
            <a:ext cx="204332" cy="532624"/>
            <a:chOff x="12883230" y="3752058"/>
            <a:chExt cx="166020" cy="629938"/>
          </a:xfrm>
        </p:grpSpPr>
        <p:cxnSp>
          <p:nvCxnSpPr>
            <p:cNvPr id="27" name="Gerade Verbindung 42">
              <a:extLst>
                <a:ext uri="{FF2B5EF4-FFF2-40B4-BE49-F238E27FC236}">
                  <a16:creationId xmlns:a16="http://schemas.microsoft.com/office/drawing/2014/main" id="{8C991E71-C638-4F0E-B299-C41BACB2D658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43">
              <a:extLst>
                <a:ext uri="{FF2B5EF4-FFF2-40B4-BE49-F238E27FC236}">
                  <a16:creationId xmlns:a16="http://schemas.microsoft.com/office/drawing/2014/main" id="{2D017751-CBBC-48CF-8907-BC60E5D5867C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" name="Grafik 29" descr="Ein Bild, das Zeichnung enthält.  Automatisch generierte Beschreibung" hidden="1">
            <a:extLst>
              <a:ext uri="{FF2B5EF4-FFF2-40B4-BE49-F238E27FC236}">
                <a16:creationId xmlns:a16="http://schemas.microsoft.com/office/drawing/2014/main" id="{7EFA830D-0971-4322-91F1-BAE81FEC2C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121" y="3159190"/>
            <a:ext cx="117652" cy="171319"/>
          </a:xfrm>
          <a:prstGeom prst="rect">
            <a:avLst/>
          </a:prstGeom>
        </p:spPr>
      </p:pic>
      <p:pic>
        <p:nvPicPr>
          <p:cNvPr id="32" name="Logo">
            <a:extLst>
              <a:ext uri="{FF2B5EF4-FFF2-40B4-BE49-F238E27FC236}">
                <a16:creationId xmlns:a16="http://schemas.microsoft.com/office/drawing/2014/main" id="{1A8223DF-8D87-4258-9BDA-98DA265E477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200" y="6238800"/>
            <a:ext cx="1893600" cy="414000"/>
          </a:xfrm>
          <a:prstGeom prst="rect">
            <a:avLst/>
          </a:prstGeom>
        </p:spPr>
      </p:pic>
      <p:pic>
        <p:nvPicPr>
          <p:cNvPr id="34" name="Logo_Motorsport">
            <a:extLst>
              <a:ext uri="{FF2B5EF4-FFF2-40B4-BE49-F238E27FC236}">
                <a16:creationId xmlns:a16="http://schemas.microsoft.com/office/drawing/2014/main" id="{3E699EA7-F97D-4172-A6D6-E4DB8271DC7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00" y="6148800"/>
            <a:ext cx="1620000" cy="583200"/>
          </a:xfrm>
          <a:prstGeom prst="rect">
            <a:avLst/>
          </a:prstGeom>
        </p:spPr>
      </p:pic>
      <p:pic>
        <p:nvPicPr>
          <p:cNvPr id="35" name="Logo_Powertrain">
            <a:extLst>
              <a:ext uri="{FF2B5EF4-FFF2-40B4-BE49-F238E27FC236}">
                <a16:creationId xmlns:a16="http://schemas.microsoft.com/office/drawing/2014/main" id="{814ACFB4-9638-462E-8063-6F378B6D544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00" y="6148800"/>
            <a:ext cx="1620000" cy="561600"/>
          </a:xfrm>
          <a:prstGeom prst="rect">
            <a:avLst/>
          </a:prstGeom>
        </p:spPr>
      </p:pic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8133CC7D-3DE4-4C25-9956-34F94CFD51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4800" y="2376000"/>
            <a:ext cx="4575600" cy="2592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  <a:endParaRPr lang="en-US" dirty="0"/>
          </a:p>
        </p:txBody>
      </p:sp>
      <p:grpSp>
        <p:nvGrpSpPr>
          <p:cNvPr id="29" name="Gruppieren 33">
            <a:extLst>
              <a:ext uri="{FF2B5EF4-FFF2-40B4-BE49-F238E27FC236}">
                <a16:creationId xmlns:a16="http://schemas.microsoft.com/office/drawing/2014/main" id="{DFA6074F-830D-4828-A18F-746EA49BC658}"/>
              </a:ext>
            </a:extLst>
          </p:cNvPr>
          <p:cNvGrpSpPr/>
          <p:nvPr userDrawn="1"/>
        </p:nvGrpSpPr>
        <p:grpSpPr>
          <a:xfrm>
            <a:off x="-572229" y="2492896"/>
            <a:ext cx="204332" cy="532624"/>
            <a:chOff x="12883230" y="3752058"/>
            <a:chExt cx="166020" cy="629938"/>
          </a:xfrm>
        </p:grpSpPr>
        <p:cxnSp>
          <p:nvCxnSpPr>
            <p:cNvPr id="31" name="Gerade Verbindung 34">
              <a:extLst>
                <a:ext uri="{FF2B5EF4-FFF2-40B4-BE49-F238E27FC236}">
                  <a16:creationId xmlns:a16="http://schemas.microsoft.com/office/drawing/2014/main" id="{B315D420-70FF-477D-B7AC-544CE4B66DAA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 Verbindung 35">
              <a:extLst>
                <a:ext uri="{FF2B5EF4-FFF2-40B4-BE49-F238E27FC236}">
                  <a16:creationId xmlns:a16="http://schemas.microsoft.com/office/drawing/2014/main" id="{525C67A9-DFCB-40B5-A203-04D9D3DB9834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feld 36">
            <a:extLst>
              <a:ext uri="{FF2B5EF4-FFF2-40B4-BE49-F238E27FC236}">
                <a16:creationId xmlns:a16="http://schemas.microsoft.com/office/drawing/2014/main" id="{F6A892CE-1C0E-4954-839F-65605AD0DE70}"/>
              </a:ext>
            </a:extLst>
          </p:cNvPr>
          <p:cNvSpPr txBox="1"/>
          <p:nvPr userDrawn="1"/>
        </p:nvSpPr>
        <p:spPr>
          <a:xfrm>
            <a:off x="-2126456" y="2599456"/>
            <a:ext cx="15571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800" dirty="0">
                <a:solidFill>
                  <a:schemeClr val="accent2"/>
                </a:solidFill>
              </a:rPr>
              <a:t>Changing document data: MasterLayout tab &gt; Data dialog</a:t>
            </a:r>
          </a:p>
        </p:txBody>
      </p:sp>
      <p:grpSp>
        <p:nvGrpSpPr>
          <p:cNvPr id="37" name="Gruppieren 33">
            <a:extLst>
              <a:ext uri="{FF2B5EF4-FFF2-40B4-BE49-F238E27FC236}">
                <a16:creationId xmlns:a16="http://schemas.microsoft.com/office/drawing/2014/main" id="{A358AE76-B645-4853-901F-ED5FE8209C6C}"/>
              </a:ext>
            </a:extLst>
          </p:cNvPr>
          <p:cNvGrpSpPr/>
          <p:nvPr userDrawn="1"/>
        </p:nvGrpSpPr>
        <p:grpSpPr>
          <a:xfrm>
            <a:off x="-572229" y="3068960"/>
            <a:ext cx="204332" cy="532624"/>
            <a:chOff x="12883230" y="3752058"/>
            <a:chExt cx="166020" cy="629938"/>
          </a:xfrm>
        </p:grpSpPr>
        <p:cxnSp>
          <p:nvCxnSpPr>
            <p:cNvPr id="38" name="Gerade Verbindung 34">
              <a:extLst>
                <a:ext uri="{FF2B5EF4-FFF2-40B4-BE49-F238E27FC236}">
                  <a16:creationId xmlns:a16="http://schemas.microsoft.com/office/drawing/2014/main" id="{CF51EED6-5896-45FB-AFC6-FB4ED74F6FF8}"/>
                </a:ext>
              </a:extLst>
            </p:cNvPr>
            <p:cNvCxnSpPr/>
            <p:nvPr/>
          </p:nvCxnSpPr>
          <p:spPr>
            <a:xfrm>
              <a:off x="13049250" y="3752058"/>
              <a:ext cx="0" cy="629938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 Verbindung 35">
              <a:extLst>
                <a:ext uri="{FF2B5EF4-FFF2-40B4-BE49-F238E27FC236}">
                  <a16:creationId xmlns:a16="http://schemas.microsoft.com/office/drawing/2014/main" id="{C47D2D81-EE15-47A3-9AB2-21EA76E6A13C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2966240" y="3994186"/>
              <a:ext cx="0" cy="16602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feld 36">
            <a:extLst>
              <a:ext uri="{FF2B5EF4-FFF2-40B4-BE49-F238E27FC236}">
                <a16:creationId xmlns:a16="http://schemas.microsoft.com/office/drawing/2014/main" id="{18D46866-D3B0-40CA-9796-51F5F9715E05}"/>
              </a:ext>
            </a:extLst>
          </p:cNvPr>
          <p:cNvSpPr txBox="1"/>
          <p:nvPr userDrawn="1"/>
        </p:nvSpPr>
        <p:spPr>
          <a:xfrm>
            <a:off x="-2126456" y="3175520"/>
            <a:ext cx="15571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800">
                <a:solidFill>
                  <a:schemeClr val="accent2"/>
                </a:solidFill>
              </a:rPr>
              <a:t>The flag is placed at the edge of the slide and is fixed in its size.</a:t>
            </a:r>
            <a:endParaRPr lang="en-US" sz="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4431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0">
          <p15:clr>
            <a:srgbClr val="FBAE40"/>
          </p15:clr>
        </p15:guide>
        <p15:guide id="2" orient="horz" pos="689">
          <p15:clr>
            <a:srgbClr val="FBAE40"/>
          </p15:clr>
        </p15:guide>
        <p15:guide id="3" orient="horz" pos="3748">
          <p15:clr>
            <a:srgbClr val="FBAE40"/>
          </p15:clr>
        </p15:guide>
        <p15:guide id="4" pos="3206">
          <p15:clr>
            <a:srgbClr val="FBAE40"/>
          </p15:clr>
        </p15:guide>
        <p15:guide id="6" orient="horz" pos="137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D4F1E1D6-D6F9-48BB-B1A9-7893608B1B59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E9AB40B-7F00-F78C-B06D-5261D6D2ED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35723" y="6369001"/>
            <a:ext cx="1324160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14523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C7EAF26-80AB-75BE-FFDC-4D1B42F20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A00649-1BEB-2F21-63B8-5CFF69396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0AA13C-4D38-CFF7-5868-B08938C291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039F15-F7D9-46B5-B6C0-E8A8C7198EF0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AE0860-4B4E-593E-1CA9-34FC77E873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EFB434-63DB-6E02-D017-5F6E098487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2920B9-9CFD-43DD-9D97-356A12AD4D9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A7AC140-2FC1-E762-C737-A455618421A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6557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CN" alt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MAHLE internal restricted (CL2)</a:t>
            </a:r>
          </a:p>
        </p:txBody>
      </p:sp>
    </p:spTree>
    <p:extLst>
      <p:ext uri="{BB962C8B-B14F-4D97-AF65-F5344CB8AC3E}">
        <p14:creationId xmlns:p14="http://schemas.microsoft.com/office/powerpoint/2010/main" val="3644209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60F1FD-79AF-46B8-B07C-4FC921F57F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1096786"/>
            <a:ext cx="5581650" cy="154080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IEC 61980</a:t>
            </a:r>
            <a:r>
              <a:rPr lang="zh-CN" altLang="en-US" dirty="0"/>
              <a:t>与</a:t>
            </a:r>
            <a:r>
              <a:rPr lang="en-US" altLang="zh-CN" dirty="0"/>
              <a:t>GB/T 38775:</a:t>
            </a:r>
            <a:r>
              <a:rPr lang="zh-CN" altLang="en-US" dirty="0"/>
              <a:t>电动汽车无线充电标准深度对比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480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14ABD99-5B32-D1E2-A9B9-39DF218866C9}"/>
              </a:ext>
            </a:extLst>
          </p:cNvPr>
          <p:cNvSpPr txBox="1"/>
          <p:nvPr/>
        </p:nvSpPr>
        <p:spPr>
          <a:xfrm>
            <a:off x="581892" y="443345"/>
            <a:ext cx="24661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标准发布时间对比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7075259-D5F3-0ACD-FF1C-1DE5DB69D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341726"/>
              </p:ext>
            </p:extLst>
          </p:nvPr>
        </p:nvGraphicFramePr>
        <p:xfrm>
          <a:off x="1450109" y="1560175"/>
          <a:ext cx="9430326" cy="3094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9346">
                  <a:extLst>
                    <a:ext uri="{9D8B030D-6E8A-4147-A177-3AD203B41FA5}">
                      <a16:colId xmlns:a16="http://schemas.microsoft.com/office/drawing/2014/main" val="2401889244"/>
                    </a:ext>
                  </a:extLst>
                </a:gridCol>
                <a:gridCol w="4119418">
                  <a:extLst>
                    <a:ext uri="{9D8B030D-6E8A-4147-A177-3AD203B41FA5}">
                      <a16:colId xmlns:a16="http://schemas.microsoft.com/office/drawing/2014/main" val="3735458391"/>
                    </a:ext>
                  </a:extLst>
                </a:gridCol>
                <a:gridCol w="3851562">
                  <a:extLst>
                    <a:ext uri="{9D8B030D-6E8A-4147-A177-3AD203B41FA5}">
                      <a16:colId xmlns:a16="http://schemas.microsoft.com/office/drawing/2014/main" val="571644391"/>
                    </a:ext>
                  </a:extLst>
                </a:gridCol>
              </a:tblGrid>
              <a:tr h="515825">
                <a:tc>
                  <a:txBody>
                    <a:bodyPr/>
                    <a:lstStyle/>
                    <a:p>
                      <a:r>
                        <a:rPr lang="zh-CN" altLang="en-US" dirty="0"/>
                        <a:t>时间节点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IEC 61980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GB/T 38775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293906"/>
                  </a:ext>
                </a:extLst>
              </a:tr>
              <a:tr h="515825">
                <a:tc>
                  <a:txBody>
                    <a:bodyPr/>
                    <a:lstStyle/>
                    <a:p>
                      <a:r>
                        <a:rPr lang="en-US" altLang="zh-CN" dirty="0"/>
                        <a:t>2015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第一版（</a:t>
                      </a:r>
                      <a:r>
                        <a:rPr lang="en-US" altLang="zh-CN" dirty="0"/>
                        <a:t>Part1:</a:t>
                      </a:r>
                      <a:r>
                        <a:rPr lang="zh-CN" altLang="en-US" dirty="0"/>
                        <a:t>通用要求）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——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12946"/>
                  </a:ext>
                </a:extLst>
              </a:tr>
              <a:tr h="515825">
                <a:tc>
                  <a:txBody>
                    <a:bodyPr/>
                    <a:lstStyle/>
                    <a:p>
                      <a:r>
                        <a:rPr lang="en-US" altLang="zh-CN" dirty="0"/>
                        <a:t>2020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Part1 </a:t>
                      </a:r>
                      <a:r>
                        <a:rPr lang="zh-CN" altLang="en-US" dirty="0"/>
                        <a:t>更新；</a:t>
                      </a:r>
                      <a:r>
                        <a:rPr lang="en-US" altLang="zh-CN" dirty="0"/>
                        <a:t>Part3</a:t>
                      </a:r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MF_WPT</a:t>
                      </a:r>
                      <a:r>
                        <a:rPr lang="zh-CN" altLang="en-US" dirty="0"/>
                        <a:t>具体）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首批</a:t>
                      </a:r>
                      <a:r>
                        <a:rPr lang="en-US" altLang="zh-CN" dirty="0"/>
                        <a:t>4</a:t>
                      </a:r>
                      <a:r>
                        <a:rPr lang="zh-CN" altLang="en-US" dirty="0"/>
                        <a:t>部分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430643"/>
                  </a:ext>
                </a:extLst>
              </a:tr>
              <a:tr h="515825">
                <a:tc>
                  <a:txBody>
                    <a:bodyPr/>
                    <a:lstStyle/>
                    <a:p>
                      <a:r>
                        <a:rPr lang="en-US" altLang="zh-CN" dirty="0"/>
                        <a:t>2022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Part3</a:t>
                      </a:r>
                      <a:r>
                        <a:rPr lang="zh-CN" altLang="en-US" dirty="0"/>
                        <a:t>正式版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拓展部分（如</a:t>
                      </a:r>
                      <a:r>
                        <a:rPr lang="en-US" altLang="zh-CN" dirty="0"/>
                        <a:t>EMC</a:t>
                      </a:r>
                      <a:r>
                        <a:rPr lang="zh-CN" altLang="en-US" dirty="0"/>
                        <a:t>测试）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49123"/>
                  </a:ext>
                </a:extLst>
              </a:tr>
              <a:tr h="515825">
                <a:tc>
                  <a:txBody>
                    <a:bodyPr/>
                    <a:lstStyle/>
                    <a:p>
                      <a:r>
                        <a:rPr lang="en-US" altLang="zh-CN" dirty="0"/>
                        <a:t>2023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Part2(</a:t>
                      </a:r>
                      <a:r>
                        <a:rPr lang="zh-CN" altLang="en-US" dirty="0"/>
                        <a:t>通信</a:t>
                      </a:r>
                      <a:r>
                        <a:rPr lang="en-US" altLang="zh-CN" dirty="0"/>
                        <a:t>)</a:t>
                      </a:r>
                      <a:r>
                        <a:rPr lang="zh-CN" altLang="en-US" dirty="0"/>
                        <a:t>更新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规划</a:t>
                      </a:r>
                      <a:r>
                        <a:rPr lang="en-US" altLang="zh-CN" dirty="0"/>
                        <a:t>18</a:t>
                      </a:r>
                      <a:r>
                        <a:rPr lang="zh-CN" altLang="en-US" dirty="0"/>
                        <a:t>部分，互操作性测试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409641"/>
                  </a:ext>
                </a:extLst>
              </a:tr>
              <a:tr h="515825">
                <a:tc>
                  <a:txBody>
                    <a:bodyPr/>
                    <a:lstStyle/>
                    <a:p>
                      <a:r>
                        <a:rPr lang="en-US" altLang="zh-CN" dirty="0"/>
                        <a:t>2025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Part6(</a:t>
                      </a:r>
                      <a:r>
                        <a:rPr lang="zh-CN" altLang="en-US" dirty="0"/>
                        <a:t>动态充电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与</a:t>
                      </a:r>
                      <a:r>
                        <a:rPr lang="en-US" altLang="zh-CN" dirty="0"/>
                        <a:t>SAE/IEC</a:t>
                      </a:r>
                      <a:r>
                        <a:rPr lang="zh-CN" altLang="en-US" dirty="0"/>
                        <a:t>协调，本土认证加强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197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781988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92A00-7B7F-18BD-9CFC-42E4CA5BA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61DB28E-57B6-1F2A-A2BA-B041E83BA8E1}"/>
              </a:ext>
            </a:extLst>
          </p:cNvPr>
          <p:cNvSpPr txBox="1"/>
          <p:nvPr/>
        </p:nvSpPr>
        <p:spPr>
          <a:xfrm>
            <a:off x="581892" y="443345"/>
            <a:ext cx="24661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使用范围对比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15A5FDC-3A3B-BD78-5786-B943B7F2A9E4}"/>
              </a:ext>
            </a:extLst>
          </p:cNvPr>
          <p:cNvSpPr txBox="1"/>
          <p:nvPr/>
        </p:nvSpPr>
        <p:spPr>
          <a:xfrm>
            <a:off x="1274618" y="1413163"/>
            <a:ext cx="9605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共同点：</a:t>
            </a:r>
            <a:r>
              <a:rPr lang="en-US" altLang="zh-CN" dirty="0"/>
              <a:t>MF-WPT(</a:t>
            </a:r>
            <a:r>
              <a:rPr lang="zh-CN" altLang="en-US" dirty="0"/>
              <a:t>磁场感应</a:t>
            </a:r>
            <a:r>
              <a:rPr lang="en-US" altLang="zh-CN" dirty="0"/>
              <a:t>)</a:t>
            </a:r>
            <a:r>
              <a:rPr lang="zh-CN" altLang="en-US" dirty="0"/>
              <a:t>，静态</a:t>
            </a:r>
            <a:r>
              <a:rPr lang="en-US" altLang="zh-CN" dirty="0"/>
              <a:t>/</a:t>
            </a:r>
            <a:r>
              <a:rPr lang="zh-CN" altLang="en-US" dirty="0"/>
              <a:t>准动态充电；</a:t>
            </a:r>
            <a:r>
              <a:rPr lang="en-US" altLang="zh-CN" dirty="0"/>
              <a:t>AC</a:t>
            </a:r>
            <a:r>
              <a:rPr lang="zh-CN" altLang="en-US" dirty="0"/>
              <a:t>电压</a:t>
            </a:r>
            <a:r>
              <a:rPr lang="en-US" altLang="zh-CN" dirty="0"/>
              <a:t>&lt;= 1000V  DC&lt;=1500V</a:t>
            </a:r>
            <a:r>
              <a:rPr lang="zh-CN" altLang="en-US" dirty="0"/>
              <a:t>；功率</a:t>
            </a:r>
            <a:r>
              <a:rPr lang="en-US" altLang="zh-CN" dirty="0"/>
              <a:t>3.7-22KW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A8EB41-0E19-82FC-793C-F78D42BBC1C1}"/>
              </a:ext>
            </a:extLst>
          </p:cNvPr>
          <p:cNvSpPr txBox="1"/>
          <p:nvPr/>
        </p:nvSpPr>
        <p:spPr>
          <a:xfrm>
            <a:off x="1403927" y="2918691"/>
            <a:ext cx="9820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IEC 61980: </a:t>
            </a:r>
            <a:r>
              <a:rPr lang="zh-CN" altLang="en-US" dirty="0"/>
              <a:t>全球基础设施侧（</a:t>
            </a:r>
            <a:r>
              <a:rPr lang="en-US" altLang="zh-CN" dirty="0"/>
              <a:t>off-board</a:t>
            </a:r>
            <a:r>
              <a:rPr lang="zh-CN" altLang="en-US" dirty="0"/>
              <a:t>），参考</a:t>
            </a:r>
            <a:r>
              <a:rPr lang="en-US" altLang="zh-CN" dirty="0"/>
              <a:t>ISO 19363(</a:t>
            </a:r>
            <a:r>
              <a:rPr lang="zh-CN" altLang="en-US" dirty="0"/>
              <a:t>车侧</a:t>
            </a:r>
            <a:r>
              <a:rPr lang="en-US" altLang="zh-CN" dirty="0"/>
              <a:t>)</a:t>
            </a:r>
            <a:r>
              <a:rPr lang="zh-CN" altLang="en-US" dirty="0"/>
              <a:t>；不覆盖维护安全、轨道车辆。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F1ABE1-7197-FE60-85D7-39938C205DF8}"/>
              </a:ext>
            </a:extLst>
          </p:cNvPr>
          <p:cNvSpPr txBox="1"/>
          <p:nvPr/>
        </p:nvSpPr>
        <p:spPr>
          <a:xfrm>
            <a:off x="1403927" y="4433455"/>
            <a:ext cx="788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GB/T 38775</a:t>
            </a:r>
            <a:r>
              <a:rPr lang="zh-CN" altLang="en-US" dirty="0"/>
              <a:t>：覆盖车辆侧（</a:t>
            </a:r>
            <a:r>
              <a:rPr lang="en-US" altLang="zh-CN" dirty="0"/>
              <a:t>IVU</a:t>
            </a:r>
            <a:r>
              <a:rPr lang="zh-CN" altLang="en-US" dirty="0"/>
              <a:t>）和基础设施（</a:t>
            </a:r>
            <a:r>
              <a:rPr lang="en-US" altLang="zh-CN" dirty="0"/>
              <a:t>CSU</a:t>
            </a:r>
            <a:r>
              <a:rPr lang="zh-CN" altLang="en-US" dirty="0"/>
              <a:t>）；强调公共产所</a:t>
            </a:r>
            <a:r>
              <a:rPr lang="en-US" altLang="zh-CN" dirty="0"/>
              <a:t>EMC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53378217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DDE99-1F07-E092-3668-CA9A07B38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84A5107-501A-1D75-E834-80377B03C0F6}"/>
              </a:ext>
            </a:extLst>
          </p:cNvPr>
          <p:cNvSpPr txBox="1"/>
          <p:nvPr/>
        </p:nvSpPr>
        <p:spPr>
          <a:xfrm>
            <a:off x="581891" y="443345"/>
            <a:ext cx="2890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IEC 61980 </a:t>
            </a:r>
            <a:r>
              <a:rPr lang="zh-CN" altLang="en-US" b="1" dirty="0"/>
              <a:t>系列标准概述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5774FCE-1D0A-DB20-B079-633B7732BE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000444"/>
              </p:ext>
            </p:extLst>
          </p:nvPr>
        </p:nvGraphicFramePr>
        <p:xfrm>
          <a:off x="683491" y="1541702"/>
          <a:ext cx="10723418" cy="28436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9452">
                  <a:extLst>
                    <a:ext uri="{9D8B030D-6E8A-4147-A177-3AD203B41FA5}">
                      <a16:colId xmlns:a16="http://schemas.microsoft.com/office/drawing/2014/main" val="2401889244"/>
                    </a:ext>
                  </a:extLst>
                </a:gridCol>
                <a:gridCol w="1979675">
                  <a:extLst>
                    <a:ext uri="{9D8B030D-6E8A-4147-A177-3AD203B41FA5}">
                      <a16:colId xmlns:a16="http://schemas.microsoft.com/office/drawing/2014/main" val="3735458391"/>
                    </a:ext>
                  </a:extLst>
                </a:gridCol>
                <a:gridCol w="7084291">
                  <a:extLst>
                    <a:ext uri="{9D8B030D-6E8A-4147-A177-3AD203B41FA5}">
                      <a16:colId xmlns:a16="http://schemas.microsoft.com/office/drawing/2014/main" val="571644391"/>
                    </a:ext>
                  </a:extLst>
                </a:gridCol>
              </a:tblGrid>
              <a:tr h="519595">
                <a:tc>
                  <a:txBody>
                    <a:bodyPr/>
                    <a:lstStyle/>
                    <a:p>
                      <a:r>
                        <a:rPr lang="zh-CN" altLang="en-US" dirty="0"/>
                        <a:t>部分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IEC 61980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关键内容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293906"/>
                  </a:ext>
                </a:extLst>
              </a:tr>
              <a:tr h="644758">
                <a:tc>
                  <a:txBody>
                    <a:bodyPr/>
                    <a:lstStyle/>
                    <a:p>
                      <a:r>
                        <a:rPr lang="en-US" altLang="zh-CN" dirty="0"/>
                        <a:t>Part1:2020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通用要求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系统框架、分类（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A/B 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类）、互操作性、安全（电气隔离、过流保护）。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12946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Part2:2023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MF-WPT 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通信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基于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ISO 15118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WLAN + LF/LPE 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接口，消息序列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430643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Part3:2022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MF-WPT 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具体要求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补偿拓扑（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SS/LCC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）、频率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81.38-90 kHz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FOD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（异物检测）、效率计算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49123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Part6(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草案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动态充电通信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车辆移动中功率传输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409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984331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B0232-9EC4-65EC-D3EC-7C22E7C67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76D1F6D-1388-DF37-9135-832C30A31733}"/>
              </a:ext>
            </a:extLst>
          </p:cNvPr>
          <p:cNvSpPr txBox="1"/>
          <p:nvPr/>
        </p:nvSpPr>
        <p:spPr>
          <a:xfrm>
            <a:off x="581892" y="443345"/>
            <a:ext cx="2466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IEC 61980</a:t>
            </a:r>
            <a:r>
              <a:rPr lang="zh-CN" altLang="en-US" b="1" dirty="0"/>
              <a:t>技术参数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D905C5F-4780-93D2-DF50-C48D8233D6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805488"/>
              </p:ext>
            </p:extLst>
          </p:nvPr>
        </p:nvGraphicFramePr>
        <p:xfrm>
          <a:off x="683491" y="1541702"/>
          <a:ext cx="10723418" cy="32427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9452">
                  <a:extLst>
                    <a:ext uri="{9D8B030D-6E8A-4147-A177-3AD203B41FA5}">
                      <a16:colId xmlns:a16="http://schemas.microsoft.com/office/drawing/2014/main" val="2401889244"/>
                    </a:ext>
                  </a:extLst>
                </a:gridCol>
                <a:gridCol w="2931021">
                  <a:extLst>
                    <a:ext uri="{9D8B030D-6E8A-4147-A177-3AD203B41FA5}">
                      <a16:colId xmlns:a16="http://schemas.microsoft.com/office/drawing/2014/main" val="3735458391"/>
                    </a:ext>
                  </a:extLst>
                </a:gridCol>
                <a:gridCol w="6132945">
                  <a:extLst>
                    <a:ext uri="{9D8B030D-6E8A-4147-A177-3AD203B41FA5}">
                      <a16:colId xmlns:a16="http://schemas.microsoft.com/office/drawing/2014/main" val="571644391"/>
                    </a:ext>
                  </a:extLst>
                </a:gridCol>
              </a:tblGrid>
              <a:tr h="519595">
                <a:tc>
                  <a:txBody>
                    <a:bodyPr/>
                    <a:lstStyle/>
                    <a:p>
                      <a:r>
                        <a:rPr lang="zh-CN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参数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值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备注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293906"/>
                  </a:ext>
                </a:extLst>
              </a:tr>
              <a:tr h="644758"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功率级别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3.7-22 kW (WPT1-3)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可扩展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&gt;11 kVA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12946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频率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81.38-90 kHz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 kHz 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中心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430643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空气间隙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100-250 mm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 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类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49123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对齐容差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±75 mm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横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纵向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409641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EMC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CISPR 11/IEC 61000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发射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抗扰度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860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606609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D72B2-D7F7-427F-3AF3-9D4428FA2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55B5384-0005-08BB-4EF6-A29B17DF4F74}"/>
              </a:ext>
            </a:extLst>
          </p:cNvPr>
          <p:cNvSpPr txBox="1"/>
          <p:nvPr/>
        </p:nvSpPr>
        <p:spPr>
          <a:xfrm>
            <a:off x="581892" y="443345"/>
            <a:ext cx="2466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IEC 61980 </a:t>
            </a:r>
            <a:r>
              <a:rPr lang="zh-CN" altLang="zh-CN" b="1" dirty="0"/>
              <a:t>通信协议</a:t>
            </a:r>
            <a:endParaRPr lang="zh-CN" altLang="en-US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C889147-1EFB-A6E4-2C6E-5C101F361CBD}"/>
              </a:ext>
            </a:extLst>
          </p:cNvPr>
          <p:cNvSpPr txBox="1"/>
          <p:nvPr/>
        </p:nvSpPr>
        <p:spPr>
          <a:xfrm>
            <a:off x="581892" y="1062182"/>
            <a:ext cx="114623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协议：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ISO 15118-2/8 (TCP/UDP over IPv6)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EXI 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编码。</a:t>
            </a:r>
          </a:p>
          <a:p>
            <a:pPr>
              <a:buNone/>
            </a:pP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 - 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接口：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WLAN (5GHz 802.11n/ac) 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主链路；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LF (3-300 kHz</a:t>
            </a:r>
            <a:r>
              <a:rPr lang="zh-CN" altLang="en-US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仅定位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+ LPE 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辅助</a:t>
            </a:r>
            <a:r>
              <a:rPr lang="zh-CN" altLang="en-US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（低功率激励持续时间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100ms-2s</a:t>
            </a:r>
            <a:r>
              <a:rPr lang="zh-CN" altLang="en-US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</a:p>
          <a:p>
            <a:pPr>
              <a:buNone/>
            </a:pP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 - 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消息：</a:t>
            </a:r>
            <a:r>
              <a:rPr lang="en-US" altLang="zh-CN" sz="18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ServiceDiscovery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Pairing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18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PowerDemand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(100 </a:t>
            </a:r>
            <a:r>
              <a:rPr lang="en-US" altLang="zh-CN" sz="18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ms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周期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zh-CN" sz="18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buNone/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9DDC601-CBE9-3405-3B38-0C8654CBF847}"/>
              </a:ext>
            </a:extLst>
          </p:cNvPr>
          <p:cNvSpPr txBox="1"/>
          <p:nvPr/>
        </p:nvSpPr>
        <p:spPr>
          <a:xfrm>
            <a:off x="775856" y="2539510"/>
            <a:ext cx="4876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11</a:t>
            </a:r>
            <a:r>
              <a:rPr lang="zh-CN" altLang="en-US" b="1" dirty="0"/>
              <a:t>步通信流程</a:t>
            </a:r>
            <a:endParaRPr lang="en-US" altLang="zh-CN" b="1" dirty="0"/>
          </a:p>
          <a:p>
            <a:r>
              <a:rPr lang="en-US" altLang="zh-CN" dirty="0"/>
              <a:t>A: [1.TCP/TLS </a:t>
            </a:r>
            <a:r>
              <a:rPr lang="zh-CN" altLang="en-US" dirty="0"/>
              <a:t>握手</a:t>
            </a:r>
            <a:r>
              <a:rPr lang="en-US" altLang="zh-CN" dirty="0"/>
              <a:t>]</a:t>
            </a:r>
            <a:r>
              <a:rPr lang="zh-CN" altLang="en-US" dirty="0"/>
              <a:t>  </a:t>
            </a:r>
            <a:r>
              <a:rPr lang="en-US" altLang="zh-CN" dirty="0"/>
              <a:t>-&gt; B</a:t>
            </a:r>
            <a:r>
              <a:rPr lang="zh-CN" altLang="en-US" dirty="0"/>
              <a:t>：</a:t>
            </a:r>
            <a:r>
              <a:rPr lang="en-US" altLang="zh-CN" dirty="0"/>
              <a:t>[2.</a:t>
            </a:r>
            <a:r>
              <a:rPr lang="zh-CN" altLang="en-US" dirty="0"/>
              <a:t>服务发现</a:t>
            </a:r>
            <a:r>
              <a:rPr lang="en-US" altLang="zh-CN" dirty="0"/>
              <a:t>]</a:t>
            </a:r>
          </a:p>
          <a:p>
            <a:r>
              <a:rPr lang="en-US" altLang="zh-CN" dirty="0"/>
              <a:t>B -&gt; C   [3.</a:t>
            </a:r>
            <a:r>
              <a:rPr lang="zh-CN" altLang="en-US" dirty="0"/>
              <a:t>精确定位</a:t>
            </a:r>
            <a:r>
              <a:rPr lang="en-US" altLang="zh-CN" dirty="0"/>
              <a:t>]</a:t>
            </a:r>
          </a:p>
          <a:p>
            <a:r>
              <a:rPr lang="en-US" altLang="zh-CN" dirty="0"/>
              <a:t>C -&gt; D  [4.</a:t>
            </a:r>
            <a:r>
              <a:rPr lang="zh-CN" altLang="en-US" dirty="0"/>
              <a:t>配对防串车</a:t>
            </a:r>
            <a:r>
              <a:rPr lang="en-US" altLang="zh-CN" dirty="0"/>
              <a:t>]</a:t>
            </a:r>
          </a:p>
          <a:p>
            <a:r>
              <a:rPr lang="en-US" altLang="zh-CN" dirty="0"/>
              <a:t>D -&gt; E  [5.</a:t>
            </a:r>
            <a:r>
              <a:rPr lang="zh-CN" altLang="en-US" dirty="0"/>
              <a:t>鉴权（</a:t>
            </a:r>
            <a:r>
              <a:rPr lang="en-US" altLang="zh-CN" dirty="0" err="1"/>
              <a:t>PnC</a:t>
            </a:r>
            <a:r>
              <a:rPr lang="zh-CN" altLang="en-US" dirty="0"/>
              <a:t>）</a:t>
            </a:r>
            <a:r>
              <a:rPr lang="en-US" altLang="zh-CN" dirty="0"/>
              <a:t>]</a:t>
            </a:r>
          </a:p>
          <a:p>
            <a:r>
              <a:rPr lang="en-US" altLang="zh-CN" dirty="0"/>
              <a:t>E -&gt; F   [6.</a:t>
            </a:r>
            <a:r>
              <a:rPr lang="zh-CN" altLang="en-US" dirty="0"/>
              <a:t>兼容性检查</a:t>
            </a:r>
            <a:r>
              <a:rPr lang="en-US" altLang="zh-CN" dirty="0"/>
              <a:t>]</a:t>
            </a:r>
          </a:p>
          <a:p>
            <a:r>
              <a:rPr lang="en-US" altLang="zh-CN" dirty="0"/>
              <a:t>F -&gt; G  [7.</a:t>
            </a:r>
            <a:r>
              <a:rPr lang="zh-CN" altLang="en-US" dirty="0"/>
              <a:t>对齐检查</a:t>
            </a:r>
            <a:r>
              <a:rPr lang="en-US" altLang="zh-CN" dirty="0"/>
              <a:t>]</a:t>
            </a:r>
          </a:p>
          <a:p>
            <a:r>
              <a:rPr lang="en-US" altLang="zh-CN" dirty="0"/>
              <a:t>G -&gt; H [8.</a:t>
            </a:r>
            <a:r>
              <a:rPr lang="zh-CN" altLang="en-US" dirty="0"/>
              <a:t>功率传输装备</a:t>
            </a:r>
            <a:r>
              <a:rPr lang="en-US" altLang="zh-CN" dirty="0"/>
              <a:t>]</a:t>
            </a:r>
          </a:p>
          <a:p>
            <a:r>
              <a:rPr lang="en-US" altLang="zh-CN" dirty="0"/>
              <a:t>H -&gt; I   [9.</a:t>
            </a:r>
            <a:r>
              <a:rPr lang="zh-CN" altLang="en-US" dirty="0"/>
              <a:t>闭环功率控制</a:t>
            </a:r>
            <a:r>
              <a:rPr lang="en-US" altLang="zh-CN" dirty="0"/>
              <a:t>]</a:t>
            </a:r>
          </a:p>
          <a:p>
            <a:r>
              <a:rPr lang="en-US" altLang="zh-CN" dirty="0"/>
              <a:t>I -&gt;  J    [10.</a:t>
            </a:r>
            <a:r>
              <a:rPr lang="zh-CN" altLang="en-US" dirty="0"/>
              <a:t>状态上报</a:t>
            </a:r>
            <a:r>
              <a:rPr lang="en-US" altLang="zh-CN" dirty="0"/>
              <a:t>]</a:t>
            </a:r>
          </a:p>
          <a:p>
            <a:r>
              <a:rPr lang="en-US" altLang="zh-CN" dirty="0"/>
              <a:t>J -&gt; K    [11.</a:t>
            </a:r>
            <a:r>
              <a:rPr lang="zh-CN" altLang="en-US" dirty="0"/>
              <a:t>安全停止</a:t>
            </a:r>
            <a:r>
              <a:rPr lang="en-US" altLang="zh-CN" dirty="0"/>
              <a:t>]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F8833D-C830-FB52-135F-833046B5C453}"/>
              </a:ext>
            </a:extLst>
          </p:cNvPr>
          <p:cNvSpPr txBox="1"/>
          <p:nvPr/>
        </p:nvSpPr>
        <p:spPr>
          <a:xfrm>
            <a:off x="6890327" y="2881745"/>
            <a:ext cx="4396509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强制要求：</a:t>
            </a:r>
            <a:endParaRPr lang="en-US" altLang="zh-CN" b="1" dirty="0"/>
          </a:p>
          <a:p>
            <a:r>
              <a:rPr lang="zh-CN" altLang="en-US" b="1" dirty="0"/>
              <a:t>主通信</a:t>
            </a:r>
            <a:r>
              <a:rPr lang="zh-CN" altLang="en-US" dirty="0"/>
              <a:t>： </a:t>
            </a:r>
            <a:r>
              <a:rPr lang="en-US" altLang="zh-CN" dirty="0"/>
              <a:t>5GHz Wi-Fi(802.11ac) + IPv6 + TCP15118</a:t>
            </a:r>
          </a:p>
          <a:p>
            <a:r>
              <a:rPr lang="zh-CN" altLang="en-US" b="1" dirty="0"/>
              <a:t>辅助信号：</a:t>
            </a:r>
            <a:r>
              <a:rPr lang="en-US" altLang="zh-CN" dirty="0"/>
              <a:t>LF(3~300kHz)+LPE(&lt; 100W)</a:t>
            </a:r>
          </a:p>
          <a:p>
            <a:r>
              <a:rPr lang="en-US" altLang="zh-CN" sz="1400" dirty="0"/>
              <a:t>LPE</a:t>
            </a:r>
            <a:r>
              <a:rPr lang="zh-CN" altLang="en-US" sz="1400" dirty="0"/>
              <a:t>的作用：</a:t>
            </a:r>
            <a:endParaRPr lang="en-US" altLang="zh-CN" sz="1400" dirty="0"/>
          </a:p>
          <a:p>
            <a:r>
              <a:rPr lang="en-US" altLang="zh-CN" sz="1400" i="1" dirty="0"/>
              <a:t>a.</a:t>
            </a:r>
            <a:r>
              <a:rPr lang="zh-CN" altLang="en-US" sz="1400" i="1" dirty="0"/>
              <a:t>精确定位（车辆通过接收</a:t>
            </a:r>
            <a:r>
              <a:rPr lang="en-US" altLang="zh-CN" sz="1400" i="1" dirty="0"/>
              <a:t>LPE</a:t>
            </a:r>
            <a:r>
              <a:rPr lang="zh-CN" altLang="en-US" sz="1400" i="1" dirty="0"/>
              <a:t>强度，计算</a:t>
            </a:r>
            <a:r>
              <a:rPr lang="en-US" altLang="zh-CN" sz="1400" i="1" dirty="0"/>
              <a:t>X/Y</a:t>
            </a:r>
            <a:r>
              <a:rPr lang="zh-CN" altLang="en-US" sz="1400" i="1" dirty="0"/>
              <a:t>偏移）</a:t>
            </a:r>
            <a:endParaRPr lang="en-US" altLang="zh-CN" sz="1400" i="1" dirty="0"/>
          </a:p>
          <a:p>
            <a:r>
              <a:rPr lang="en-US" altLang="zh-CN" sz="1400" i="1" dirty="0"/>
              <a:t>b.</a:t>
            </a:r>
            <a:r>
              <a:rPr lang="zh-CN" altLang="en-US" sz="1400" i="1" dirty="0"/>
              <a:t>防串车充电（只有接收到</a:t>
            </a:r>
            <a:r>
              <a:rPr lang="en-US" altLang="zh-CN" sz="1400" i="1" dirty="0"/>
              <a:t>LPE</a:t>
            </a:r>
            <a:r>
              <a:rPr lang="zh-CN" altLang="en-US" sz="1400" i="1" dirty="0"/>
              <a:t>的车才能配对）</a:t>
            </a:r>
            <a:endParaRPr lang="en-US" altLang="zh-CN" sz="1400" i="1" dirty="0"/>
          </a:p>
          <a:p>
            <a:r>
              <a:rPr lang="en-US" altLang="zh-CN" sz="1400" i="1" dirty="0"/>
              <a:t>c.</a:t>
            </a:r>
            <a:r>
              <a:rPr lang="zh-CN" altLang="en-US" sz="1400" i="1" dirty="0"/>
              <a:t>安全验证（确认车底有线圈，无异味）</a:t>
            </a:r>
            <a:endParaRPr lang="en-US" altLang="zh-CN" sz="1400" i="1" dirty="0"/>
          </a:p>
          <a:p>
            <a:r>
              <a:rPr lang="zh-CN" altLang="en-US" dirty="0"/>
              <a:t>编码：</a:t>
            </a:r>
            <a:r>
              <a:rPr lang="en-US" altLang="zh-CN" dirty="0"/>
              <a:t>EXI</a:t>
            </a:r>
            <a:r>
              <a:rPr lang="zh-CN" altLang="en-US" dirty="0"/>
              <a:t>压缩（</a:t>
            </a:r>
            <a:r>
              <a:rPr lang="en-US" altLang="zh-CN" dirty="0"/>
              <a:t>XML -&gt; 18~25</a:t>
            </a:r>
            <a:r>
              <a:rPr lang="zh-CN" altLang="en-US" dirty="0"/>
              <a:t>字节）</a:t>
            </a:r>
          </a:p>
        </p:txBody>
      </p:sp>
    </p:spTree>
    <p:extLst>
      <p:ext uri="{BB962C8B-B14F-4D97-AF65-F5344CB8AC3E}">
        <p14:creationId xmlns:p14="http://schemas.microsoft.com/office/powerpoint/2010/main" val="349146384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EABFE4C-CE89-FA5E-6613-4F57232FC5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600161"/>
              </p:ext>
            </p:extLst>
          </p:nvPr>
        </p:nvGraphicFramePr>
        <p:xfrm>
          <a:off x="665017" y="885921"/>
          <a:ext cx="10372436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3109">
                  <a:extLst>
                    <a:ext uri="{9D8B030D-6E8A-4147-A177-3AD203B41FA5}">
                      <a16:colId xmlns:a16="http://schemas.microsoft.com/office/drawing/2014/main" val="4168413896"/>
                    </a:ext>
                  </a:extLst>
                </a:gridCol>
                <a:gridCol w="2593109">
                  <a:extLst>
                    <a:ext uri="{9D8B030D-6E8A-4147-A177-3AD203B41FA5}">
                      <a16:colId xmlns:a16="http://schemas.microsoft.com/office/drawing/2014/main" val="1821877580"/>
                    </a:ext>
                  </a:extLst>
                </a:gridCol>
                <a:gridCol w="2593109">
                  <a:extLst>
                    <a:ext uri="{9D8B030D-6E8A-4147-A177-3AD203B41FA5}">
                      <a16:colId xmlns:a16="http://schemas.microsoft.com/office/drawing/2014/main" val="1656217787"/>
                    </a:ext>
                  </a:extLst>
                </a:gridCol>
                <a:gridCol w="2593109">
                  <a:extLst>
                    <a:ext uri="{9D8B030D-6E8A-4147-A177-3AD203B41FA5}">
                      <a16:colId xmlns:a16="http://schemas.microsoft.com/office/drawing/2014/main" val="2961918754"/>
                    </a:ext>
                  </a:extLst>
                </a:gridCol>
              </a:tblGrid>
              <a:tr h="357268">
                <a:tc>
                  <a:txBody>
                    <a:bodyPr/>
                    <a:lstStyle/>
                    <a:p>
                      <a:r>
                        <a:rPr lang="zh-CN" altLang="en-US" dirty="0"/>
                        <a:t>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Wi-Fi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LPE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279309"/>
                  </a:ext>
                </a:extLst>
              </a:tr>
              <a:tr h="357268">
                <a:tc>
                  <a:txBody>
                    <a:bodyPr/>
                    <a:lstStyle/>
                    <a:p>
                      <a:r>
                        <a:rPr lang="zh-CN" altLang="en-US" dirty="0"/>
                        <a:t>中文名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无线局域网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低频信号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低功率激励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018185"/>
                  </a:ext>
                </a:extLst>
              </a:tr>
              <a:tr h="357268">
                <a:tc>
                  <a:txBody>
                    <a:bodyPr/>
                    <a:lstStyle/>
                    <a:p>
                      <a:r>
                        <a:rPr lang="zh-CN" altLang="en-US" dirty="0"/>
                        <a:t>频率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5GHz(802.11ac)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3~300kHz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85kHz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275519"/>
                  </a:ext>
                </a:extLst>
              </a:tr>
              <a:tr h="357268">
                <a:tc>
                  <a:txBody>
                    <a:bodyPr/>
                    <a:lstStyle/>
                    <a:p>
                      <a:r>
                        <a:rPr lang="zh-CN" altLang="en-US" dirty="0"/>
                        <a:t>功率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100mW~1W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&lt;1W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&lt;=100W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876505"/>
                  </a:ext>
                </a:extLst>
              </a:tr>
              <a:tr h="357268">
                <a:tc>
                  <a:txBody>
                    <a:bodyPr/>
                    <a:lstStyle/>
                    <a:p>
                      <a:r>
                        <a:rPr lang="zh-CN" altLang="en-US" dirty="0"/>
                        <a:t>作用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主通讯（</a:t>
                      </a:r>
                      <a:r>
                        <a:rPr lang="en-US" altLang="zh-CN" dirty="0"/>
                        <a:t>TCP 15118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粗定位</a:t>
                      </a:r>
                      <a:r>
                        <a:rPr lang="en-US" altLang="zh-CN" dirty="0"/>
                        <a:t>+</a:t>
                      </a:r>
                      <a:r>
                        <a:rPr lang="zh-CN" altLang="en-US" dirty="0"/>
                        <a:t>唤醒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精确定位</a:t>
                      </a:r>
                      <a:r>
                        <a:rPr lang="en-US" altLang="zh-CN" dirty="0"/>
                        <a:t>+</a:t>
                      </a:r>
                      <a:r>
                        <a:rPr lang="zh-CN" altLang="en-US" dirty="0"/>
                        <a:t>安全认证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802478"/>
                  </a:ext>
                </a:extLst>
              </a:tr>
              <a:tr h="357268">
                <a:tc>
                  <a:txBody>
                    <a:bodyPr/>
                    <a:lstStyle/>
                    <a:p>
                      <a:r>
                        <a:rPr lang="zh-CN" altLang="en-US" dirty="0"/>
                        <a:t>通讯介质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电磁波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近场磁感应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近场磁感应（主线圈）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161579"/>
                  </a:ext>
                </a:extLst>
              </a:tr>
              <a:tr h="357268">
                <a:tc>
                  <a:txBody>
                    <a:bodyPr/>
                    <a:lstStyle/>
                    <a:p>
                      <a:r>
                        <a:rPr lang="zh-CN" altLang="en-US" dirty="0"/>
                        <a:t>传输距离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10~50m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1~3m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0.1~0.3m</a:t>
                      </a:r>
                      <a:r>
                        <a:rPr lang="zh-CN" altLang="en-US" dirty="0"/>
                        <a:t>空气间隙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2311175"/>
                  </a:ext>
                </a:extLst>
              </a:tr>
              <a:tr h="357268">
                <a:tc>
                  <a:txBody>
                    <a:bodyPr/>
                    <a:lstStyle/>
                    <a:p>
                      <a:r>
                        <a:rPr lang="zh-CN" altLang="en-US" dirty="0"/>
                        <a:t>设备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Wi-Fi</a:t>
                      </a:r>
                      <a:r>
                        <a:rPr lang="zh-CN" altLang="en-US" dirty="0"/>
                        <a:t>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专用</a:t>
                      </a:r>
                      <a:r>
                        <a:rPr lang="en-US" altLang="zh-CN" dirty="0"/>
                        <a:t>LF</a:t>
                      </a:r>
                      <a:r>
                        <a:rPr lang="zh-CN" altLang="en-US" dirty="0"/>
                        <a:t>天线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主功率线圈（</a:t>
                      </a:r>
                      <a:r>
                        <a:rPr lang="en-US" altLang="zh-CN" dirty="0"/>
                        <a:t>GA/VA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413170"/>
                  </a:ext>
                </a:extLst>
              </a:tr>
              <a:tr h="357268">
                <a:tc>
                  <a:txBody>
                    <a:bodyPr/>
                    <a:lstStyle/>
                    <a:p>
                      <a:r>
                        <a:rPr lang="zh-CN" altLang="en-US" dirty="0"/>
                        <a:t>是否使用</a:t>
                      </a:r>
                      <a:r>
                        <a:rPr lang="en-US" altLang="zh-CN" dirty="0"/>
                        <a:t>Wi-Fi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Yes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No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No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097494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7172D168-2820-DECF-FBF1-1C26A6E7A18B}"/>
              </a:ext>
            </a:extLst>
          </p:cNvPr>
          <p:cNvSpPr txBox="1"/>
          <p:nvPr/>
        </p:nvSpPr>
        <p:spPr>
          <a:xfrm>
            <a:off x="665017" y="4701309"/>
            <a:ext cx="103724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IVU</a:t>
            </a:r>
            <a:r>
              <a:rPr lang="zh-CN" altLang="en-US" dirty="0"/>
              <a:t>需要几个芯片： </a:t>
            </a:r>
            <a:r>
              <a:rPr lang="en-US" altLang="zh-CN" dirty="0"/>
              <a:t>&gt;= 3</a:t>
            </a:r>
            <a:r>
              <a:rPr lang="zh-CN" altLang="en-US" dirty="0"/>
              <a:t>颗芯片，推荐</a:t>
            </a:r>
            <a:r>
              <a:rPr lang="en-US" altLang="zh-CN" dirty="0"/>
              <a:t>4</a:t>
            </a:r>
            <a:r>
              <a:rPr lang="zh-CN" altLang="en-US" dirty="0"/>
              <a:t>颗芯片</a:t>
            </a:r>
            <a:endParaRPr lang="en-US" altLang="zh-CN" dirty="0"/>
          </a:p>
          <a:p>
            <a:r>
              <a:rPr lang="en-US" altLang="zh-CN" dirty="0"/>
              <a:t>1. Wi-Fi + TLS  + EXI    </a:t>
            </a:r>
            <a:r>
              <a:rPr lang="zh-CN" altLang="en-US" dirty="0"/>
              <a:t>主芯片必须是高性能核</a:t>
            </a:r>
            <a:endParaRPr lang="en-US" altLang="zh-CN" dirty="0"/>
          </a:p>
          <a:p>
            <a:r>
              <a:rPr lang="en-US" altLang="zh-CN" dirty="0"/>
              <a:t>2. ASIL B </a:t>
            </a:r>
            <a:r>
              <a:rPr lang="zh-CN" altLang="en-US" dirty="0"/>
              <a:t>安全关断  必须独立 </a:t>
            </a:r>
            <a:r>
              <a:rPr lang="en-US" altLang="zh-CN" dirty="0"/>
              <a:t>Lockstep MCU</a:t>
            </a:r>
          </a:p>
          <a:p>
            <a:r>
              <a:rPr lang="en-US" altLang="zh-CN" dirty="0"/>
              <a:t>3. LF 125KHz </a:t>
            </a:r>
            <a:r>
              <a:rPr lang="zh-CN" altLang="en-US" dirty="0"/>
              <a:t>必须专用模拟前端</a:t>
            </a:r>
            <a:endParaRPr lang="en-US" altLang="zh-CN" dirty="0"/>
          </a:p>
          <a:p>
            <a:r>
              <a:rPr lang="en-US" altLang="zh-CN" dirty="0"/>
              <a:t>4. LPE 85kHz </a:t>
            </a:r>
            <a:r>
              <a:rPr lang="zh-CN" altLang="en-US" dirty="0"/>
              <a:t>是实时监控 必须独立采样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37836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35F7A-4896-8939-39B5-D51D595A1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3581A10-3DDB-3F89-4BAC-CB2E5A3047DC}"/>
              </a:ext>
            </a:extLst>
          </p:cNvPr>
          <p:cNvSpPr txBox="1"/>
          <p:nvPr/>
        </p:nvSpPr>
        <p:spPr>
          <a:xfrm>
            <a:off x="581892" y="443345"/>
            <a:ext cx="4184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关键流程解析（欧标国标一致）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4D13E1F-75B5-F23F-0AEB-28EAFF81E452}"/>
              </a:ext>
            </a:extLst>
          </p:cNvPr>
          <p:cNvSpPr txBox="1"/>
          <p:nvPr/>
        </p:nvSpPr>
        <p:spPr>
          <a:xfrm>
            <a:off x="581892" y="923636"/>
            <a:ext cx="61791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精确定位</a:t>
            </a:r>
            <a:endParaRPr lang="en-US" altLang="zh-CN" dirty="0"/>
          </a:p>
          <a:p>
            <a:r>
              <a:rPr lang="zh-CN" altLang="en-US" dirty="0"/>
              <a:t>流程： </a:t>
            </a:r>
            <a:r>
              <a:rPr lang="en-US" altLang="zh-CN" dirty="0"/>
              <a:t>1.LF</a:t>
            </a:r>
            <a:r>
              <a:rPr lang="zh-CN" altLang="en-US" dirty="0"/>
              <a:t>信号扫描：地面</a:t>
            </a:r>
            <a:r>
              <a:rPr lang="en-US" altLang="zh-CN" dirty="0"/>
              <a:t>GA</a:t>
            </a:r>
            <a:r>
              <a:rPr lang="zh-CN" altLang="en-US" dirty="0"/>
              <a:t>发射</a:t>
            </a:r>
            <a:r>
              <a:rPr lang="en-US" altLang="zh-CN" dirty="0"/>
              <a:t>3~300KHz</a:t>
            </a:r>
            <a:r>
              <a:rPr lang="zh-CN" altLang="en-US" dirty="0"/>
              <a:t>信号</a:t>
            </a:r>
            <a:endParaRPr lang="en-US" altLang="zh-CN" dirty="0"/>
          </a:p>
          <a:p>
            <a:r>
              <a:rPr lang="en-US" altLang="zh-CN" dirty="0"/>
              <a:t>            2. </a:t>
            </a:r>
            <a:r>
              <a:rPr lang="zh-CN" altLang="en-US" dirty="0"/>
              <a:t>车辆</a:t>
            </a:r>
            <a:r>
              <a:rPr lang="en-US" altLang="zh-CN" dirty="0"/>
              <a:t>VA</a:t>
            </a:r>
            <a:r>
              <a:rPr lang="zh-CN" altLang="en-US" dirty="0"/>
              <a:t>接收：测距</a:t>
            </a:r>
            <a:r>
              <a:rPr lang="en-US" altLang="zh-CN" dirty="0"/>
              <a:t>+</a:t>
            </a:r>
            <a:r>
              <a:rPr lang="zh-CN" altLang="en-US" dirty="0"/>
              <a:t>方向</a:t>
            </a:r>
            <a:endParaRPr lang="en-US" altLang="zh-CN" dirty="0"/>
          </a:p>
          <a:p>
            <a:r>
              <a:rPr lang="en-US" altLang="zh-CN" dirty="0"/>
              <a:t>            3. LPE</a:t>
            </a:r>
            <a:r>
              <a:rPr lang="zh-CN" altLang="en-US" dirty="0"/>
              <a:t>低功率激励：地面发送</a:t>
            </a:r>
            <a:r>
              <a:rPr lang="en-US" altLang="zh-CN" dirty="0"/>
              <a:t>&lt;100W</a:t>
            </a:r>
            <a:r>
              <a:rPr lang="zh-CN" altLang="en-US" dirty="0"/>
              <a:t>信号</a:t>
            </a:r>
            <a:endParaRPr lang="en-US" altLang="zh-CN" dirty="0"/>
          </a:p>
          <a:p>
            <a:r>
              <a:rPr lang="en-US" altLang="zh-CN" dirty="0"/>
              <a:t>            4.</a:t>
            </a:r>
            <a:r>
              <a:rPr lang="zh-CN" altLang="en-US" dirty="0"/>
              <a:t>车辆发聩：发送信号</a:t>
            </a:r>
            <a:endParaRPr lang="en-US" altLang="zh-CN" dirty="0"/>
          </a:p>
          <a:p>
            <a:r>
              <a:rPr lang="en-US" altLang="zh-CN" dirty="0"/>
              <a:t>             5.</a:t>
            </a:r>
            <a:r>
              <a:rPr lang="zh-CN" altLang="en-US" dirty="0"/>
              <a:t>地面确定</a:t>
            </a:r>
            <a:endParaRPr lang="en-US" altLang="zh-CN" dirty="0"/>
          </a:p>
          <a:p>
            <a:r>
              <a:rPr lang="zh-CN" altLang="en-US" dirty="0"/>
              <a:t>失败：最多</a:t>
            </a:r>
            <a:r>
              <a:rPr lang="en-US" altLang="zh-CN" dirty="0"/>
              <a:t>3</a:t>
            </a:r>
            <a:r>
              <a:rPr lang="zh-CN" altLang="en-US" dirty="0"/>
              <a:t>次，超时</a:t>
            </a:r>
            <a:r>
              <a:rPr lang="en-US" altLang="zh-CN" dirty="0"/>
              <a:t>5</a:t>
            </a:r>
            <a:r>
              <a:rPr lang="zh-CN" altLang="en-US" dirty="0"/>
              <a:t>秒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74A0374-7487-7A69-63A8-4D5F16506693}"/>
              </a:ext>
            </a:extLst>
          </p:cNvPr>
          <p:cNvSpPr txBox="1"/>
          <p:nvPr/>
        </p:nvSpPr>
        <p:spPr>
          <a:xfrm>
            <a:off x="674255" y="3288145"/>
            <a:ext cx="30941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配对：防串车充电</a:t>
            </a:r>
            <a:endParaRPr lang="en-US" altLang="zh-CN" dirty="0"/>
          </a:p>
          <a:p>
            <a:r>
              <a:rPr lang="zh-CN" altLang="en-US" dirty="0"/>
              <a:t>机制：  车辆</a:t>
            </a:r>
            <a:r>
              <a:rPr lang="en-US" altLang="zh-CN" dirty="0"/>
              <a:t>A</a:t>
            </a:r>
            <a:r>
              <a:rPr lang="zh-CN" altLang="en-US" dirty="0"/>
              <a:t>只与桩</a:t>
            </a:r>
            <a:r>
              <a:rPr lang="en-US" altLang="zh-CN" dirty="0"/>
              <a:t>1</a:t>
            </a:r>
            <a:r>
              <a:rPr lang="zh-CN" altLang="en-US" dirty="0"/>
              <a:t>配对</a:t>
            </a:r>
            <a:endParaRPr lang="en-US" altLang="zh-CN" dirty="0"/>
          </a:p>
          <a:p>
            <a:r>
              <a:rPr lang="en-US" altLang="zh-CN" dirty="0"/>
              <a:t>             </a:t>
            </a:r>
            <a:r>
              <a:rPr lang="zh-CN" altLang="en-US" dirty="0"/>
              <a:t>桩</a:t>
            </a:r>
            <a:r>
              <a:rPr lang="en-US" altLang="zh-CN" dirty="0"/>
              <a:t>1</a:t>
            </a:r>
            <a:r>
              <a:rPr lang="zh-CN" altLang="en-US" dirty="0"/>
              <a:t>拒绝车辆</a:t>
            </a:r>
            <a:r>
              <a:rPr lang="en-US" altLang="zh-CN" dirty="0"/>
              <a:t>B</a:t>
            </a:r>
            <a:r>
              <a:rPr lang="zh-CN" altLang="en-US" dirty="0"/>
              <a:t>的请求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E082987-4A9A-E0A3-E975-A8334048ECF6}"/>
              </a:ext>
            </a:extLst>
          </p:cNvPr>
          <p:cNvSpPr txBox="1"/>
          <p:nvPr/>
        </p:nvSpPr>
        <p:spPr>
          <a:xfrm>
            <a:off x="674254" y="4544659"/>
            <a:ext cx="8885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闭环功率控制</a:t>
            </a:r>
            <a:r>
              <a:rPr lang="en-US" altLang="zh-CN" dirty="0"/>
              <a:t>: EVCC</a:t>
            </a:r>
            <a:r>
              <a:rPr lang="zh-CN" altLang="en-US" dirty="0"/>
              <a:t>与</a:t>
            </a:r>
            <a:r>
              <a:rPr lang="en-US" altLang="zh-CN" dirty="0"/>
              <a:t>SECC</a:t>
            </a:r>
            <a:r>
              <a:rPr lang="zh-CN" altLang="en-US" dirty="0"/>
              <a:t>交互，国标</a:t>
            </a:r>
            <a:r>
              <a:rPr lang="en-US" altLang="zh-CN" dirty="0"/>
              <a:t>CSU</a:t>
            </a:r>
            <a:r>
              <a:rPr lang="zh-CN" altLang="en-US" dirty="0"/>
              <a:t>与</a:t>
            </a:r>
            <a:r>
              <a:rPr lang="en-US" altLang="zh-CN" dirty="0"/>
              <a:t>IVU</a:t>
            </a:r>
            <a:r>
              <a:rPr lang="zh-CN" altLang="en-US" dirty="0"/>
              <a:t>交互</a:t>
            </a:r>
          </a:p>
        </p:txBody>
      </p:sp>
    </p:spTree>
    <p:extLst>
      <p:ext uri="{BB962C8B-B14F-4D97-AF65-F5344CB8AC3E}">
        <p14:creationId xmlns:p14="http://schemas.microsoft.com/office/powerpoint/2010/main" val="327718597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E48D8-A8DB-CF02-CE01-F2A519846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333AB0C-E710-7F39-92C5-ACE23894E4B4}"/>
              </a:ext>
            </a:extLst>
          </p:cNvPr>
          <p:cNvSpPr txBox="1"/>
          <p:nvPr/>
        </p:nvSpPr>
        <p:spPr>
          <a:xfrm>
            <a:off x="581892" y="443345"/>
            <a:ext cx="2466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IEC 61980 </a:t>
            </a:r>
            <a:r>
              <a:rPr lang="zh-CN" altLang="zh-CN" b="1" dirty="0"/>
              <a:t>安全要求</a:t>
            </a:r>
            <a:endParaRPr lang="zh-CN" altLang="en-US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E9201B-83C4-D713-3D25-AA66E35AB7EF}"/>
              </a:ext>
            </a:extLst>
          </p:cNvPr>
          <p:cNvSpPr txBox="1"/>
          <p:nvPr/>
        </p:nvSpPr>
        <p:spPr>
          <a:xfrm>
            <a:off x="581892" y="979055"/>
            <a:ext cx="85574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 EMF 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限值：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ICNIRP 2010 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指南。</a:t>
            </a:r>
          </a:p>
          <a:p>
            <a:pPr>
              <a:buNone/>
            </a:pP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 - 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响应时间：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&lt;100 </a:t>
            </a:r>
            <a:r>
              <a:rPr lang="en-US" altLang="zh-CN" sz="18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ms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(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异常关断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</a:p>
          <a:p>
            <a:pPr>
              <a:buNone/>
            </a:pP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 - 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测试：参考设备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(Annex A-E)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，互操作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A/B 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类。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97DDBF1-816F-83DA-5407-0ABF11C137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929556"/>
              </p:ext>
            </p:extLst>
          </p:nvPr>
        </p:nvGraphicFramePr>
        <p:xfrm>
          <a:off x="796635" y="2068763"/>
          <a:ext cx="10148456" cy="3855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7256">
                  <a:extLst>
                    <a:ext uri="{9D8B030D-6E8A-4147-A177-3AD203B41FA5}">
                      <a16:colId xmlns:a16="http://schemas.microsoft.com/office/drawing/2014/main" val="2325736115"/>
                    </a:ext>
                  </a:extLst>
                </a:gridCol>
                <a:gridCol w="3256972">
                  <a:extLst>
                    <a:ext uri="{9D8B030D-6E8A-4147-A177-3AD203B41FA5}">
                      <a16:colId xmlns:a16="http://schemas.microsoft.com/office/drawing/2014/main" val="1738567089"/>
                    </a:ext>
                  </a:extLst>
                </a:gridCol>
                <a:gridCol w="2537114">
                  <a:extLst>
                    <a:ext uri="{9D8B030D-6E8A-4147-A177-3AD203B41FA5}">
                      <a16:colId xmlns:a16="http://schemas.microsoft.com/office/drawing/2014/main" val="1432159576"/>
                    </a:ext>
                  </a:extLst>
                </a:gridCol>
                <a:gridCol w="2537114">
                  <a:extLst>
                    <a:ext uri="{9D8B030D-6E8A-4147-A177-3AD203B41FA5}">
                      <a16:colId xmlns:a16="http://schemas.microsoft.com/office/drawing/2014/main" val="464034233"/>
                    </a:ext>
                  </a:extLst>
                </a:gridCol>
              </a:tblGrid>
              <a:tr h="368485">
                <a:tc>
                  <a:txBody>
                    <a:bodyPr/>
                    <a:lstStyle/>
                    <a:p>
                      <a:r>
                        <a:rPr lang="zh-CN" altLang="en-US" dirty="0"/>
                        <a:t>条款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安全要求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量产实现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验证方法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566727"/>
                  </a:ext>
                </a:extLst>
              </a:tr>
              <a:tr h="368485">
                <a:tc>
                  <a:txBody>
                    <a:bodyPr/>
                    <a:lstStyle/>
                    <a:p>
                      <a:r>
                        <a:rPr lang="zh-CN" altLang="en-US" dirty="0"/>
                        <a:t>电气安全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687415"/>
                  </a:ext>
                </a:extLst>
              </a:tr>
              <a:tr h="636015">
                <a:tc>
                  <a:txBody>
                    <a:bodyPr/>
                    <a:lstStyle/>
                    <a:p>
                      <a:r>
                        <a:rPr lang="zh-CN" altLang="en-US" dirty="0"/>
                        <a:t>电击防护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基本绝缘</a:t>
                      </a:r>
                      <a:r>
                        <a:rPr lang="en-US" altLang="zh-CN" dirty="0"/>
                        <a:t>+</a:t>
                      </a:r>
                      <a:r>
                        <a:rPr lang="zh-CN" altLang="en-US" dirty="0"/>
                        <a:t>保护接地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9521882"/>
                  </a:ext>
                </a:extLst>
              </a:tr>
              <a:tr h="368485">
                <a:tc>
                  <a:txBody>
                    <a:bodyPr/>
                    <a:lstStyle/>
                    <a:p>
                      <a:r>
                        <a:rPr lang="zh-CN" altLang="en-US" dirty="0"/>
                        <a:t>过流保护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短路电流</a:t>
                      </a:r>
                      <a:r>
                        <a:rPr lang="en-US" altLang="zh-CN" dirty="0"/>
                        <a:t>&lt;=150%</a:t>
                      </a:r>
                      <a:r>
                        <a:rPr lang="zh-CN" altLang="en-US" dirty="0"/>
                        <a:t>额度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短路测试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154210"/>
                  </a:ext>
                </a:extLst>
              </a:tr>
              <a:tr h="368485">
                <a:tc>
                  <a:txBody>
                    <a:bodyPr/>
                    <a:lstStyle/>
                    <a:p>
                      <a:r>
                        <a:rPr lang="zh-CN" altLang="en-US" dirty="0"/>
                        <a:t>过压保护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DC</a:t>
                      </a:r>
                      <a:r>
                        <a:rPr lang="zh-CN" altLang="en-US" dirty="0"/>
                        <a:t>母线</a:t>
                      </a:r>
                      <a:r>
                        <a:rPr lang="en-US" altLang="zh-CN" dirty="0"/>
                        <a:t>&lt;=1500V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浪涌测试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000388"/>
                  </a:ext>
                </a:extLst>
              </a:tr>
              <a:tr h="368485">
                <a:tc>
                  <a:txBody>
                    <a:bodyPr/>
                    <a:lstStyle/>
                    <a:p>
                      <a:r>
                        <a:rPr lang="zh-CN" altLang="en-US" dirty="0"/>
                        <a:t>过温保护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线圈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功率器件</a:t>
                      </a:r>
                      <a:r>
                        <a:rPr lang="en-US" altLang="zh-CN" dirty="0"/>
                        <a:t>&lt;=90°C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NTC</a:t>
                      </a:r>
                      <a:r>
                        <a:rPr lang="zh-CN" altLang="en-US" dirty="0"/>
                        <a:t>传感器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热成像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934112"/>
                  </a:ext>
                </a:extLst>
              </a:tr>
              <a:tr h="368485">
                <a:tc>
                  <a:txBody>
                    <a:bodyPr/>
                    <a:lstStyle/>
                    <a:p>
                      <a:r>
                        <a:rPr lang="zh-CN" altLang="en-US" dirty="0"/>
                        <a:t>异物检查</a:t>
                      </a:r>
                      <a:r>
                        <a:rPr lang="en-US" altLang="zh-CN" dirty="0"/>
                        <a:t>FOD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检测金属物（</a:t>
                      </a:r>
                      <a:r>
                        <a:rPr lang="en-US" altLang="zh-CN" dirty="0"/>
                        <a:t>&gt;=5g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雷达</a:t>
                      </a:r>
                      <a:r>
                        <a:rPr lang="en-US" altLang="zh-CN" dirty="0"/>
                        <a:t>+</a:t>
                      </a:r>
                      <a:r>
                        <a:rPr lang="zh-CN" altLang="en-US" dirty="0"/>
                        <a:t>线圈电流异常检测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铝片测试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3473022"/>
                  </a:ext>
                </a:extLst>
              </a:tr>
              <a:tr h="368485">
                <a:tc>
                  <a:txBody>
                    <a:bodyPr/>
                    <a:lstStyle/>
                    <a:p>
                      <a:r>
                        <a:rPr lang="zh-CN" altLang="en-US" dirty="0"/>
                        <a:t>活体检测</a:t>
                      </a:r>
                      <a:r>
                        <a:rPr lang="en-US" altLang="zh-CN" dirty="0"/>
                        <a:t>LVD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检测人体（</a:t>
                      </a:r>
                      <a:r>
                        <a:rPr lang="en-US" altLang="zh-CN" dirty="0"/>
                        <a:t>&gt;=50kg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红外</a:t>
                      </a:r>
                      <a:r>
                        <a:rPr lang="en-US" altLang="zh-CN" dirty="0"/>
                        <a:t>+</a:t>
                      </a:r>
                      <a:r>
                        <a:rPr lang="zh-CN" altLang="en-US" dirty="0"/>
                        <a:t>压力传感器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人体模型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0073014"/>
                  </a:ext>
                </a:extLst>
              </a:tr>
              <a:tr h="368485">
                <a:tc>
                  <a:txBody>
                    <a:bodyPr/>
                    <a:lstStyle/>
                    <a:p>
                      <a:r>
                        <a:rPr lang="zh-CN" altLang="en-US" dirty="0"/>
                        <a:t>功能安全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ASILB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双</a:t>
                      </a:r>
                      <a:r>
                        <a:rPr lang="en-US" altLang="zh-CN" dirty="0"/>
                        <a:t>MCU</a:t>
                      </a:r>
                      <a:r>
                        <a:rPr lang="zh-CN" altLang="en-US" dirty="0"/>
                        <a:t>冗余控制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747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540135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4C72BBF-14FE-543D-D28E-ADAFF35D91B2}"/>
              </a:ext>
            </a:extLst>
          </p:cNvPr>
          <p:cNvSpPr txBox="1"/>
          <p:nvPr/>
        </p:nvSpPr>
        <p:spPr>
          <a:xfrm>
            <a:off x="581892" y="443345"/>
            <a:ext cx="8007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IEC 61980 </a:t>
            </a:r>
            <a:r>
              <a:rPr lang="zh-CN" altLang="en-US" b="1" dirty="0"/>
              <a:t>电磁场与热安全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5B6C215-350F-02F4-66EC-EFF1F54C59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407467"/>
              </p:ext>
            </p:extLst>
          </p:nvPr>
        </p:nvGraphicFramePr>
        <p:xfrm>
          <a:off x="658090" y="1501255"/>
          <a:ext cx="10148456" cy="2210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710">
                  <a:extLst>
                    <a:ext uri="{9D8B030D-6E8A-4147-A177-3AD203B41FA5}">
                      <a16:colId xmlns:a16="http://schemas.microsoft.com/office/drawing/2014/main" val="2325736115"/>
                    </a:ext>
                  </a:extLst>
                </a:gridCol>
                <a:gridCol w="3278909">
                  <a:extLst>
                    <a:ext uri="{9D8B030D-6E8A-4147-A177-3AD203B41FA5}">
                      <a16:colId xmlns:a16="http://schemas.microsoft.com/office/drawing/2014/main" val="1738567089"/>
                    </a:ext>
                  </a:extLst>
                </a:gridCol>
                <a:gridCol w="2653723">
                  <a:extLst>
                    <a:ext uri="{9D8B030D-6E8A-4147-A177-3AD203B41FA5}">
                      <a16:colId xmlns:a16="http://schemas.microsoft.com/office/drawing/2014/main" val="1432159576"/>
                    </a:ext>
                  </a:extLst>
                </a:gridCol>
                <a:gridCol w="2537114">
                  <a:extLst>
                    <a:ext uri="{9D8B030D-6E8A-4147-A177-3AD203B41FA5}">
                      <a16:colId xmlns:a16="http://schemas.microsoft.com/office/drawing/2014/main" val="464034233"/>
                    </a:ext>
                  </a:extLst>
                </a:gridCol>
              </a:tblGrid>
              <a:tr h="368485">
                <a:tc>
                  <a:txBody>
                    <a:bodyPr/>
                    <a:lstStyle/>
                    <a:p>
                      <a:r>
                        <a:rPr lang="zh-CN" altLang="en-US" dirty="0"/>
                        <a:t>条款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安全要求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限制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量产实现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566727"/>
                  </a:ext>
                </a:extLst>
              </a:tr>
              <a:tr h="368485">
                <a:tc>
                  <a:txBody>
                    <a:bodyPr/>
                    <a:lstStyle/>
                    <a:p>
                      <a:r>
                        <a:rPr lang="en-US" altLang="zh-CN" dirty="0"/>
                        <a:t>EMF</a:t>
                      </a:r>
                      <a:r>
                        <a:rPr lang="zh-CN" altLang="en-US" dirty="0"/>
                        <a:t>暴露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符合</a:t>
                      </a:r>
                      <a:r>
                        <a:rPr lang="en-US" altLang="zh-CN" dirty="0"/>
                        <a:t>ICNIRP 2010</a:t>
                      </a:r>
                      <a:r>
                        <a:rPr lang="zh-CN" altLang="en-US" dirty="0"/>
                        <a:t>指南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一般公众：</a:t>
                      </a:r>
                      <a:r>
                        <a:rPr lang="en-US" altLang="zh-CN" dirty="0"/>
                        <a:t>85kHZ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磁场探头实测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687415"/>
                  </a:ext>
                </a:extLst>
              </a:tr>
              <a:tr h="368485">
                <a:tc>
                  <a:txBody>
                    <a:bodyPr/>
                    <a:lstStyle/>
                    <a:p>
                      <a:r>
                        <a:rPr lang="zh-CN" altLang="en-US" dirty="0"/>
                        <a:t>泄露磁场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充电区域外</a:t>
                      </a:r>
                      <a:r>
                        <a:rPr lang="en-US" altLang="zh-CN" dirty="0"/>
                        <a:t>&lt;=15uT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距离</a:t>
                      </a:r>
                      <a:r>
                        <a:rPr lang="en-US" altLang="zh-CN" dirty="0"/>
                        <a:t>1m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屏蔽罩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459162"/>
                  </a:ext>
                </a:extLst>
              </a:tr>
              <a:tr h="368485">
                <a:tc>
                  <a:txBody>
                    <a:bodyPr/>
                    <a:lstStyle/>
                    <a:p>
                      <a:r>
                        <a:rPr lang="zh-CN" altLang="en-US" dirty="0"/>
                        <a:t>热安全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线圈表面</a:t>
                      </a:r>
                      <a:r>
                        <a:rPr lang="en-US" altLang="zh-CN" dirty="0"/>
                        <a:t>&lt;=70°C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人体可触碰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红外测温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223242"/>
                  </a:ext>
                </a:extLst>
              </a:tr>
              <a:tr h="368485">
                <a:tc>
                  <a:txBody>
                    <a:bodyPr/>
                    <a:lstStyle/>
                    <a:p>
                      <a:r>
                        <a:rPr lang="zh-CN" altLang="en-US" dirty="0"/>
                        <a:t>补偿网路保护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电容击穿 </a:t>
                      </a:r>
                      <a:r>
                        <a:rPr lang="en-US" altLang="zh-CN" dirty="0"/>
                        <a:t>-&gt; </a:t>
                      </a:r>
                      <a:r>
                        <a:rPr lang="zh-CN" altLang="en-US" dirty="0"/>
                        <a:t>关断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响应 </a:t>
                      </a:r>
                      <a:r>
                        <a:rPr lang="en-US" altLang="zh-CN" dirty="0"/>
                        <a:t>&lt; 50ms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电压监测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6778495"/>
                  </a:ext>
                </a:extLst>
              </a:tr>
              <a:tr h="368485">
                <a:tc>
                  <a:txBody>
                    <a:bodyPr/>
                    <a:lstStyle/>
                    <a:p>
                      <a:r>
                        <a:rPr lang="zh-CN" altLang="en-US" dirty="0"/>
                        <a:t>对齐丢失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偏移</a:t>
                      </a:r>
                      <a:r>
                        <a:rPr lang="en-US" altLang="zh-CN" dirty="0"/>
                        <a:t>&gt;100ms -&gt; </a:t>
                      </a:r>
                      <a:r>
                        <a:rPr lang="zh-CN" altLang="en-US" dirty="0"/>
                        <a:t>关断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响应 </a:t>
                      </a:r>
                      <a:r>
                        <a:rPr lang="en-US" altLang="zh-CN" dirty="0"/>
                        <a:t>&lt; 100ms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LPE</a:t>
                      </a:r>
                      <a:r>
                        <a:rPr lang="zh-CN" altLang="en-US" dirty="0"/>
                        <a:t>信号丢失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2626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948892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71AF-12F8-F4B5-1D8F-085CD2C85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8F77556-8620-1E4C-D266-9FCB079338B6}"/>
              </a:ext>
            </a:extLst>
          </p:cNvPr>
          <p:cNvSpPr txBox="1"/>
          <p:nvPr/>
        </p:nvSpPr>
        <p:spPr>
          <a:xfrm>
            <a:off x="683491" y="507999"/>
            <a:ext cx="2890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GB/T 38775 </a:t>
            </a:r>
            <a:r>
              <a:rPr lang="zh-CN" altLang="zh-CN" b="1" dirty="0"/>
              <a:t>系列概述</a:t>
            </a:r>
            <a:endParaRPr lang="zh-CN" altLang="en-US" b="1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052C6BB-0A7E-BBB6-E8DD-30561D4C46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260833"/>
              </p:ext>
            </p:extLst>
          </p:nvPr>
        </p:nvGraphicFramePr>
        <p:xfrm>
          <a:off x="683491" y="1541702"/>
          <a:ext cx="10723418" cy="32427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9452">
                  <a:extLst>
                    <a:ext uri="{9D8B030D-6E8A-4147-A177-3AD203B41FA5}">
                      <a16:colId xmlns:a16="http://schemas.microsoft.com/office/drawing/2014/main" val="2401889244"/>
                    </a:ext>
                  </a:extLst>
                </a:gridCol>
                <a:gridCol w="2127457">
                  <a:extLst>
                    <a:ext uri="{9D8B030D-6E8A-4147-A177-3AD203B41FA5}">
                      <a16:colId xmlns:a16="http://schemas.microsoft.com/office/drawing/2014/main" val="3735458391"/>
                    </a:ext>
                  </a:extLst>
                </a:gridCol>
                <a:gridCol w="6936509">
                  <a:extLst>
                    <a:ext uri="{9D8B030D-6E8A-4147-A177-3AD203B41FA5}">
                      <a16:colId xmlns:a16="http://schemas.microsoft.com/office/drawing/2014/main" val="571644391"/>
                    </a:ext>
                  </a:extLst>
                </a:gridCol>
              </a:tblGrid>
              <a:tr h="519595">
                <a:tc>
                  <a:txBody>
                    <a:bodyPr/>
                    <a:lstStyle/>
                    <a:p>
                      <a:r>
                        <a:rPr lang="zh-CN" altLang="en-US" dirty="0"/>
                        <a:t>部分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IEC 61980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关键内容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293906"/>
                  </a:ext>
                </a:extLst>
              </a:tr>
              <a:tr h="644758"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 1:2020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通用要求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系统框架、分类（功率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安装）、互操作性、环境测试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(IP 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等级、振动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12946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 2:2020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通信协议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CSU-IVU-WCCMS 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三方协议，兼容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ISO 15118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430643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 3:2020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特殊要求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线圈参数、补偿网络、频率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85 kHz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、对齐机制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069893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 4:2020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EMC 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限值与测试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电磁环境限值（电场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&lt;61 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dBμV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/m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，磁场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&lt;137 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dBμA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/m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697957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后续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互操作测试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(Part 7)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车辆端测试，参考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SAE J2954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1500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569118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83381-73E9-EEA9-98F6-0A0B07C12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2393ACF-EBF8-66C1-0046-EB433F5897BD}"/>
              </a:ext>
            </a:extLst>
          </p:cNvPr>
          <p:cNvSpPr txBox="1"/>
          <p:nvPr/>
        </p:nvSpPr>
        <p:spPr>
          <a:xfrm>
            <a:off x="581892" y="443345"/>
            <a:ext cx="2466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GB/T 38775 </a:t>
            </a:r>
            <a:r>
              <a:rPr lang="zh-CN" altLang="zh-CN" b="1" dirty="0"/>
              <a:t>核心参数</a:t>
            </a:r>
            <a:endParaRPr lang="zh-CN" altLang="en-US" b="1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185CE97-2EE9-31BB-AA63-0D0B32979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451218"/>
              </p:ext>
            </p:extLst>
          </p:nvPr>
        </p:nvGraphicFramePr>
        <p:xfrm>
          <a:off x="683491" y="1541702"/>
          <a:ext cx="10723418" cy="27231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9452">
                  <a:extLst>
                    <a:ext uri="{9D8B030D-6E8A-4147-A177-3AD203B41FA5}">
                      <a16:colId xmlns:a16="http://schemas.microsoft.com/office/drawing/2014/main" val="2401889244"/>
                    </a:ext>
                  </a:extLst>
                </a:gridCol>
                <a:gridCol w="2931021">
                  <a:extLst>
                    <a:ext uri="{9D8B030D-6E8A-4147-A177-3AD203B41FA5}">
                      <a16:colId xmlns:a16="http://schemas.microsoft.com/office/drawing/2014/main" val="3735458391"/>
                    </a:ext>
                  </a:extLst>
                </a:gridCol>
                <a:gridCol w="6132945">
                  <a:extLst>
                    <a:ext uri="{9D8B030D-6E8A-4147-A177-3AD203B41FA5}">
                      <a16:colId xmlns:a16="http://schemas.microsoft.com/office/drawing/2014/main" val="571644391"/>
                    </a:ext>
                  </a:extLst>
                </a:gridCol>
              </a:tblGrid>
              <a:tr h="519595">
                <a:tc>
                  <a:txBody>
                    <a:bodyPr/>
                    <a:lstStyle/>
                    <a:p>
                      <a:r>
                        <a:rPr lang="zh-CN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参数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值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备注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293906"/>
                  </a:ext>
                </a:extLst>
              </a:tr>
              <a:tr h="644758"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功率级别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3.7/7.7/11/22 kW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与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IEC 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一致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12946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频率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 kHz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相同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430643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空气间隙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100-250 mm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相同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49123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EMC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专用限值（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 4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更严格，针对城市环境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860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239338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27775-5AA0-9829-DC3E-7315BB4ED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CBBB0C8-1965-2B2E-85EF-42CD1CB1A7CD}"/>
              </a:ext>
            </a:extLst>
          </p:cNvPr>
          <p:cNvSpPr txBox="1"/>
          <p:nvPr/>
        </p:nvSpPr>
        <p:spPr>
          <a:xfrm>
            <a:off x="581891" y="443345"/>
            <a:ext cx="3140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GB/T 38775 </a:t>
            </a:r>
            <a:r>
              <a:rPr lang="zh-CN" altLang="zh-CN" b="1" dirty="0"/>
              <a:t>安全与测试</a:t>
            </a:r>
            <a:endParaRPr lang="zh-CN" altLang="en-US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9B7384D-343D-CB02-09BB-9AC77FA8AA54}"/>
              </a:ext>
            </a:extLst>
          </p:cNvPr>
          <p:cNvSpPr txBox="1"/>
          <p:nvPr/>
        </p:nvSpPr>
        <p:spPr>
          <a:xfrm>
            <a:off x="581890" y="960581"/>
            <a:ext cx="104925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 EMC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Part 4 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专用测试（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 kHz-30 MHz 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频率范围）。</a:t>
            </a:r>
          </a:p>
          <a:p>
            <a:pPr>
              <a:buNone/>
            </a:pP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 - 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响应时间：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&lt;100 </a:t>
            </a:r>
            <a:r>
              <a:rPr lang="en-US" altLang="zh-CN" sz="18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ms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(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类似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IEC)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</a:p>
          <a:p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  - 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测试：本土认证（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GB/T 38775.7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），振动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环境更详细。</a:t>
            </a:r>
            <a:r>
              <a:rPr lang="zh-CN" altLang="en-US" b="1" dirty="0"/>
              <a:t>振动</a:t>
            </a:r>
            <a:r>
              <a:rPr lang="en-US" altLang="zh-CN" b="1" dirty="0"/>
              <a:t>/</a:t>
            </a:r>
            <a:r>
              <a:rPr lang="zh-CN" altLang="en-US" b="1" dirty="0"/>
              <a:t>冲击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是公共停车场强制要求。</a:t>
            </a:r>
            <a:endParaRPr lang="zh-CN" altLang="en-US" b="1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37360E2-ED19-5867-5243-1874B715F5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209"/>
              </p:ext>
            </p:extLst>
          </p:nvPr>
        </p:nvGraphicFramePr>
        <p:xfrm>
          <a:off x="796635" y="2068763"/>
          <a:ext cx="10148456" cy="4223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7256">
                  <a:extLst>
                    <a:ext uri="{9D8B030D-6E8A-4147-A177-3AD203B41FA5}">
                      <a16:colId xmlns:a16="http://schemas.microsoft.com/office/drawing/2014/main" val="2325736115"/>
                    </a:ext>
                  </a:extLst>
                </a:gridCol>
                <a:gridCol w="3256972">
                  <a:extLst>
                    <a:ext uri="{9D8B030D-6E8A-4147-A177-3AD203B41FA5}">
                      <a16:colId xmlns:a16="http://schemas.microsoft.com/office/drawing/2014/main" val="1738567089"/>
                    </a:ext>
                  </a:extLst>
                </a:gridCol>
                <a:gridCol w="2537114">
                  <a:extLst>
                    <a:ext uri="{9D8B030D-6E8A-4147-A177-3AD203B41FA5}">
                      <a16:colId xmlns:a16="http://schemas.microsoft.com/office/drawing/2014/main" val="1432159576"/>
                    </a:ext>
                  </a:extLst>
                </a:gridCol>
                <a:gridCol w="2537114">
                  <a:extLst>
                    <a:ext uri="{9D8B030D-6E8A-4147-A177-3AD203B41FA5}">
                      <a16:colId xmlns:a16="http://schemas.microsoft.com/office/drawing/2014/main" val="464034233"/>
                    </a:ext>
                  </a:extLst>
                </a:gridCol>
              </a:tblGrid>
              <a:tr h="368485">
                <a:tc>
                  <a:txBody>
                    <a:bodyPr/>
                    <a:lstStyle/>
                    <a:p>
                      <a:r>
                        <a:rPr lang="zh-CN" altLang="en-US" dirty="0"/>
                        <a:t>条款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安全要求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量产实现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验证方法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566727"/>
                  </a:ext>
                </a:extLst>
              </a:tr>
              <a:tr h="368485">
                <a:tc>
                  <a:txBody>
                    <a:bodyPr/>
                    <a:lstStyle/>
                    <a:p>
                      <a:r>
                        <a:rPr lang="zh-CN" altLang="en-US" dirty="0"/>
                        <a:t>电气安全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687415"/>
                  </a:ext>
                </a:extLst>
              </a:tr>
              <a:tr h="636015">
                <a:tc>
                  <a:txBody>
                    <a:bodyPr/>
                    <a:lstStyle/>
                    <a:p>
                      <a:r>
                        <a:rPr lang="zh-CN" altLang="en-US" dirty="0"/>
                        <a:t>电击防护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基本绝缘</a:t>
                      </a:r>
                      <a:r>
                        <a:rPr lang="en-US" altLang="zh-CN" dirty="0"/>
                        <a:t>+</a:t>
                      </a:r>
                      <a:r>
                        <a:rPr lang="zh-CN" altLang="en-US" dirty="0"/>
                        <a:t>保护接地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9521882"/>
                  </a:ext>
                </a:extLst>
              </a:tr>
              <a:tr h="368485">
                <a:tc>
                  <a:txBody>
                    <a:bodyPr/>
                    <a:lstStyle/>
                    <a:p>
                      <a:r>
                        <a:rPr lang="zh-CN" altLang="en-US" dirty="0"/>
                        <a:t>过流保护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短路电流</a:t>
                      </a:r>
                      <a:r>
                        <a:rPr lang="en-US" altLang="zh-CN" dirty="0"/>
                        <a:t>&lt;=120%</a:t>
                      </a:r>
                      <a:r>
                        <a:rPr lang="zh-CN" altLang="en-US" dirty="0"/>
                        <a:t>额度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短路测试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154210"/>
                  </a:ext>
                </a:extLst>
              </a:tr>
              <a:tr h="368485">
                <a:tc>
                  <a:txBody>
                    <a:bodyPr/>
                    <a:lstStyle/>
                    <a:p>
                      <a:r>
                        <a:rPr lang="zh-CN" altLang="en-US" dirty="0"/>
                        <a:t>过压保护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DC</a:t>
                      </a:r>
                      <a:r>
                        <a:rPr lang="zh-CN" altLang="en-US" dirty="0"/>
                        <a:t>母线</a:t>
                      </a:r>
                      <a:r>
                        <a:rPr lang="en-US" altLang="zh-CN" dirty="0"/>
                        <a:t>&lt;=1500V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浪涌测试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000388"/>
                  </a:ext>
                </a:extLst>
              </a:tr>
              <a:tr h="368485">
                <a:tc>
                  <a:txBody>
                    <a:bodyPr/>
                    <a:lstStyle/>
                    <a:p>
                      <a:r>
                        <a:rPr lang="zh-CN" altLang="en-US" dirty="0"/>
                        <a:t>过温保护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线圈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功率器件</a:t>
                      </a:r>
                      <a:r>
                        <a:rPr lang="en-US" altLang="zh-CN" dirty="0"/>
                        <a:t>&lt;=85/90°C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NTC</a:t>
                      </a:r>
                      <a:r>
                        <a:rPr lang="zh-CN" altLang="en-US" dirty="0"/>
                        <a:t>传感器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热成像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934112"/>
                  </a:ext>
                </a:extLst>
              </a:tr>
              <a:tr h="368485">
                <a:tc>
                  <a:txBody>
                    <a:bodyPr/>
                    <a:lstStyle/>
                    <a:p>
                      <a:r>
                        <a:rPr lang="zh-CN" altLang="en-US" dirty="0"/>
                        <a:t>异物检查</a:t>
                      </a:r>
                      <a:r>
                        <a:rPr lang="en-US" altLang="zh-CN" dirty="0"/>
                        <a:t>FOD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检测金属物（</a:t>
                      </a:r>
                      <a:r>
                        <a:rPr lang="en-US" altLang="zh-CN" dirty="0"/>
                        <a:t>&gt;=3g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雷达</a:t>
                      </a:r>
                      <a:r>
                        <a:rPr lang="en-US" altLang="zh-CN" dirty="0"/>
                        <a:t>+</a:t>
                      </a:r>
                      <a:r>
                        <a:rPr lang="zh-CN" altLang="en-US" dirty="0"/>
                        <a:t>线圈电流异常检测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铝片测试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3473022"/>
                  </a:ext>
                </a:extLst>
              </a:tr>
              <a:tr h="368485">
                <a:tc>
                  <a:txBody>
                    <a:bodyPr/>
                    <a:lstStyle/>
                    <a:p>
                      <a:r>
                        <a:rPr lang="zh-CN" altLang="en-US" dirty="0"/>
                        <a:t>活体检测</a:t>
                      </a:r>
                      <a:r>
                        <a:rPr lang="en-US" altLang="zh-CN" dirty="0"/>
                        <a:t>LVD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检测人体（</a:t>
                      </a:r>
                      <a:r>
                        <a:rPr lang="en-US" altLang="zh-CN" dirty="0"/>
                        <a:t>&gt;=40kg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红外</a:t>
                      </a:r>
                      <a:r>
                        <a:rPr lang="en-US" altLang="zh-CN" dirty="0"/>
                        <a:t>+</a:t>
                      </a:r>
                      <a:r>
                        <a:rPr lang="zh-CN" altLang="en-US" dirty="0"/>
                        <a:t>压力传感器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人体模型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0073014"/>
                  </a:ext>
                </a:extLst>
              </a:tr>
              <a:tr h="368485">
                <a:tc>
                  <a:txBody>
                    <a:bodyPr/>
                    <a:lstStyle/>
                    <a:p>
                      <a:r>
                        <a:rPr lang="zh-CN" altLang="en-US" dirty="0"/>
                        <a:t>防水要求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IP65</a:t>
                      </a:r>
                      <a:r>
                        <a:rPr lang="zh-CN" altLang="en-US" dirty="0"/>
                        <a:t>地上</a:t>
                      </a:r>
                      <a:r>
                        <a:rPr lang="en-US" altLang="zh-CN" dirty="0"/>
                        <a:t>/IP67</a:t>
                      </a:r>
                      <a:r>
                        <a:rPr lang="zh-CN" altLang="en-US" dirty="0"/>
                        <a:t>地埋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全密封</a:t>
                      </a:r>
                      <a:r>
                        <a:rPr lang="en-US" altLang="zh-CN" dirty="0"/>
                        <a:t>+</a:t>
                      </a:r>
                      <a:r>
                        <a:rPr lang="zh-CN" altLang="en-US" dirty="0"/>
                        <a:t>排水槽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碰淋实验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747836"/>
                  </a:ext>
                </a:extLst>
              </a:tr>
              <a:tr h="368485">
                <a:tc>
                  <a:txBody>
                    <a:bodyPr/>
                    <a:lstStyle/>
                    <a:p>
                      <a:r>
                        <a:rPr lang="zh-CN" altLang="en-US" dirty="0"/>
                        <a:t>振动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冲击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符合</a:t>
                      </a:r>
                      <a:r>
                        <a:rPr lang="en-US" altLang="zh-CN" dirty="0"/>
                        <a:t>GB/T2423.10(10g)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减震垫</a:t>
                      </a:r>
                      <a:r>
                        <a:rPr lang="en-US" altLang="zh-CN" dirty="0"/>
                        <a:t>+</a:t>
                      </a:r>
                      <a:r>
                        <a:rPr lang="zh-CN" altLang="en-US" dirty="0"/>
                        <a:t>固定螺栓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振动台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973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2930237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F695258-B3E1-17F9-4B02-1C50798F165B}"/>
              </a:ext>
            </a:extLst>
          </p:cNvPr>
          <p:cNvSpPr txBox="1"/>
          <p:nvPr/>
        </p:nvSpPr>
        <p:spPr>
          <a:xfrm>
            <a:off x="581892" y="443345"/>
            <a:ext cx="8007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GB/T 38775</a:t>
            </a:r>
            <a:r>
              <a:rPr lang="zh-CN" altLang="en-US" b="1" dirty="0"/>
              <a:t>电磁场与热安全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88323DF-57CF-4747-488C-33742C0C33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500219"/>
              </p:ext>
            </p:extLst>
          </p:nvPr>
        </p:nvGraphicFramePr>
        <p:xfrm>
          <a:off x="658090" y="1501255"/>
          <a:ext cx="10148456" cy="2210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710">
                  <a:extLst>
                    <a:ext uri="{9D8B030D-6E8A-4147-A177-3AD203B41FA5}">
                      <a16:colId xmlns:a16="http://schemas.microsoft.com/office/drawing/2014/main" val="2325736115"/>
                    </a:ext>
                  </a:extLst>
                </a:gridCol>
                <a:gridCol w="3278909">
                  <a:extLst>
                    <a:ext uri="{9D8B030D-6E8A-4147-A177-3AD203B41FA5}">
                      <a16:colId xmlns:a16="http://schemas.microsoft.com/office/drawing/2014/main" val="1738567089"/>
                    </a:ext>
                  </a:extLst>
                </a:gridCol>
                <a:gridCol w="2653723">
                  <a:extLst>
                    <a:ext uri="{9D8B030D-6E8A-4147-A177-3AD203B41FA5}">
                      <a16:colId xmlns:a16="http://schemas.microsoft.com/office/drawing/2014/main" val="1432159576"/>
                    </a:ext>
                  </a:extLst>
                </a:gridCol>
                <a:gridCol w="2537114">
                  <a:extLst>
                    <a:ext uri="{9D8B030D-6E8A-4147-A177-3AD203B41FA5}">
                      <a16:colId xmlns:a16="http://schemas.microsoft.com/office/drawing/2014/main" val="464034233"/>
                    </a:ext>
                  </a:extLst>
                </a:gridCol>
              </a:tblGrid>
              <a:tr h="368485">
                <a:tc>
                  <a:txBody>
                    <a:bodyPr/>
                    <a:lstStyle/>
                    <a:p>
                      <a:r>
                        <a:rPr lang="zh-CN" altLang="en-US" dirty="0"/>
                        <a:t>条款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安全要求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限制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量产实现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566727"/>
                  </a:ext>
                </a:extLst>
              </a:tr>
              <a:tr h="368485">
                <a:tc>
                  <a:txBody>
                    <a:bodyPr/>
                    <a:lstStyle/>
                    <a:p>
                      <a:r>
                        <a:rPr lang="en-US" altLang="zh-CN" dirty="0"/>
                        <a:t>EMF</a:t>
                      </a:r>
                      <a:r>
                        <a:rPr lang="zh-CN" altLang="en-US" dirty="0"/>
                        <a:t>暴露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符合</a:t>
                      </a:r>
                      <a:r>
                        <a:rPr lang="en-US" altLang="zh-CN" dirty="0"/>
                        <a:t>ICNIRP 2010</a:t>
                      </a:r>
                      <a:r>
                        <a:rPr lang="zh-CN" altLang="en-US" dirty="0"/>
                        <a:t>指南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一般公众：</a:t>
                      </a:r>
                      <a:r>
                        <a:rPr lang="en-US" altLang="zh-CN" dirty="0"/>
                        <a:t>85kHZ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磁场探头实测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687415"/>
                  </a:ext>
                </a:extLst>
              </a:tr>
              <a:tr h="368485">
                <a:tc>
                  <a:txBody>
                    <a:bodyPr/>
                    <a:lstStyle/>
                    <a:p>
                      <a:r>
                        <a:rPr lang="zh-CN" altLang="en-US" dirty="0"/>
                        <a:t>泄露磁场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充电区域外</a:t>
                      </a:r>
                      <a:r>
                        <a:rPr lang="en-US" altLang="zh-CN" dirty="0"/>
                        <a:t>&lt;=10uT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比</a:t>
                      </a:r>
                      <a:r>
                        <a:rPr lang="en-US" altLang="zh-CN" dirty="0"/>
                        <a:t>IEC</a:t>
                      </a:r>
                      <a:r>
                        <a:rPr lang="zh-CN" altLang="en-US" dirty="0"/>
                        <a:t>严</a:t>
                      </a:r>
                      <a:r>
                        <a:rPr lang="en-US" altLang="zh-CN" dirty="0"/>
                        <a:t>33%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屏蔽罩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459162"/>
                  </a:ext>
                </a:extLst>
              </a:tr>
              <a:tr h="368485">
                <a:tc>
                  <a:txBody>
                    <a:bodyPr/>
                    <a:lstStyle/>
                    <a:p>
                      <a:r>
                        <a:rPr lang="zh-CN" altLang="en-US" dirty="0"/>
                        <a:t>热安全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线圈表面</a:t>
                      </a:r>
                      <a:r>
                        <a:rPr lang="en-US" altLang="zh-CN" dirty="0"/>
                        <a:t>&lt;=65°C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比</a:t>
                      </a:r>
                      <a:r>
                        <a:rPr lang="en-US" altLang="zh-CN" dirty="0"/>
                        <a:t>IEC</a:t>
                      </a:r>
                      <a:r>
                        <a:rPr lang="zh-CN" altLang="en-US" dirty="0"/>
                        <a:t>低</a:t>
                      </a:r>
                      <a:r>
                        <a:rPr lang="en-US" altLang="zh-CN" dirty="0"/>
                        <a:t>5°C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红外测温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223242"/>
                  </a:ext>
                </a:extLst>
              </a:tr>
              <a:tr h="368485">
                <a:tc>
                  <a:txBody>
                    <a:bodyPr/>
                    <a:lstStyle/>
                    <a:p>
                      <a:r>
                        <a:rPr lang="zh-CN" altLang="en-US" dirty="0"/>
                        <a:t>补偿网路保护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电容击穿 </a:t>
                      </a:r>
                      <a:r>
                        <a:rPr lang="en-US" altLang="zh-CN" dirty="0"/>
                        <a:t>-&gt; </a:t>
                      </a:r>
                      <a:r>
                        <a:rPr lang="zh-CN" altLang="en-US" dirty="0"/>
                        <a:t>关断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响应 </a:t>
                      </a:r>
                      <a:r>
                        <a:rPr lang="en-US" altLang="zh-CN" dirty="0"/>
                        <a:t>&lt; 50ms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电压监测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6778495"/>
                  </a:ext>
                </a:extLst>
              </a:tr>
              <a:tr h="368485">
                <a:tc>
                  <a:txBody>
                    <a:bodyPr/>
                    <a:lstStyle/>
                    <a:p>
                      <a:r>
                        <a:rPr lang="zh-CN" altLang="en-US" dirty="0"/>
                        <a:t>对齐丢失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偏移</a:t>
                      </a:r>
                      <a:r>
                        <a:rPr lang="en-US" altLang="zh-CN" dirty="0"/>
                        <a:t>&gt;80ms -&gt; </a:t>
                      </a:r>
                      <a:r>
                        <a:rPr lang="zh-CN" altLang="en-US" dirty="0"/>
                        <a:t>关断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比</a:t>
                      </a:r>
                      <a:r>
                        <a:rPr lang="en-US" altLang="zh-CN" dirty="0"/>
                        <a:t>IEC</a:t>
                      </a:r>
                      <a:r>
                        <a:rPr lang="zh-CN" altLang="en-US" dirty="0"/>
                        <a:t>严</a:t>
                      </a:r>
                      <a:r>
                        <a:rPr lang="en-US" altLang="zh-CN" dirty="0"/>
                        <a:t>20%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LPE</a:t>
                      </a:r>
                      <a:r>
                        <a:rPr lang="zh-CN" altLang="en-US" dirty="0"/>
                        <a:t>信号丢失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2626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808112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BD230-B578-AD1E-C684-DA41DF6BD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C5AC20B-2754-01FF-6CA8-E52CF028F229}"/>
              </a:ext>
            </a:extLst>
          </p:cNvPr>
          <p:cNvSpPr txBox="1"/>
          <p:nvPr/>
        </p:nvSpPr>
        <p:spPr>
          <a:xfrm>
            <a:off x="581891" y="443345"/>
            <a:ext cx="4830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/>
              <a:t>核心区别对比（</a:t>
            </a:r>
            <a:r>
              <a:rPr lang="en-US" altLang="zh-CN" b="1" dirty="0"/>
              <a:t>1/3</a:t>
            </a:r>
            <a:r>
              <a:rPr lang="zh-CN" altLang="zh-CN" b="1" dirty="0"/>
              <a:t>）</a:t>
            </a:r>
            <a:r>
              <a:rPr lang="en-US" altLang="zh-CN" b="1" dirty="0"/>
              <a:t>——</a:t>
            </a:r>
            <a:r>
              <a:rPr lang="zh-CN" altLang="zh-CN" b="1" dirty="0"/>
              <a:t>结构与范围</a:t>
            </a:r>
            <a:endParaRPr lang="zh-CN" altLang="en-US" b="1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804C211-017C-4A68-D31B-1E28BA61E6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083156"/>
              </p:ext>
            </p:extLst>
          </p:nvPr>
        </p:nvGraphicFramePr>
        <p:xfrm>
          <a:off x="683491" y="1541702"/>
          <a:ext cx="10723417" cy="1775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6218">
                  <a:extLst>
                    <a:ext uri="{9D8B030D-6E8A-4147-A177-3AD203B41FA5}">
                      <a16:colId xmlns:a16="http://schemas.microsoft.com/office/drawing/2014/main" val="2401889244"/>
                    </a:ext>
                  </a:extLst>
                </a:gridCol>
                <a:gridCol w="2909455">
                  <a:extLst>
                    <a:ext uri="{9D8B030D-6E8A-4147-A177-3AD203B41FA5}">
                      <a16:colId xmlns:a16="http://schemas.microsoft.com/office/drawing/2014/main" val="3735458391"/>
                    </a:ext>
                  </a:extLst>
                </a:gridCol>
                <a:gridCol w="4147127">
                  <a:extLst>
                    <a:ext uri="{9D8B030D-6E8A-4147-A177-3AD203B41FA5}">
                      <a16:colId xmlns:a16="http://schemas.microsoft.com/office/drawing/2014/main" val="571644391"/>
                    </a:ext>
                  </a:extLst>
                </a:gridCol>
                <a:gridCol w="2290617">
                  <a:extLst>
                    <a:ext uri="{9D8B030D-6E8A-4147-A177-3AD203B41FA5}">
                      <a16:colId xmlns:a16="http://schemas.microsoft.com/office/drawing/2014/main" val="1118987306"/>
                    </a:ext>
                  </a:extLst>
                </a:gridCol>
              </a:tblGrid>
              <a:tr h="490298">
                <a:tc>
                  <a:txBody>
                    <a:bodyPr/>
                    <a:lstStyle/>
                    <a:p>
                      <a:r>
                        <a:rPr lang="zh-CN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维度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IEC 61980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GB/T 38775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影响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293906"/>
                  </a:ext>
                </a:extLst>
              </a:tr>
              <a:tr h="644758"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系列部分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 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部分（基础设施侧为主）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首批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4 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部分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+ 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规划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18 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部分（车辆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基础设施均衡）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GB/T 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更全面本土测试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12946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范围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全球通用，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off-board 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重点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中国市场，内外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EMC 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强制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IEC 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国际出口，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GB/T 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本土认证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430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0208610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E3A66-5A84-B425-D9A5-1D2737AD5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4E12C67-C527-5115-A823-C3C7279D8822}"/>
              </a:ext>
            </a:extLst>
          </p:cNvPr>
          <p:cNvSpPr txBox="1"/>
          <p:nvPr/>
        </p:nvSpPr>
        <p:spPr>
          <a:xfrm>
            <a:off x="581892" y="443345"/>
            <a:ext cx="5366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/>
              <a:t>核心区别对比（</a:t>
            </a:r>
            <a:r>
              <a:rPr lang="en-US" altLang="zh-CN" b="1" dirty="0"/>
              <a:t>2/3</a:t>
            </a:r>
            <a:r>
              <a:rPr lang="zh-CN" altLang="zh-CN" b="1" dirty="0"/>
              <a:t>）</a:t>
            </a:r>
            <a:r>
              <a:rPr lang="en-US" altLang="zh-CN" b="1" dirty="0"/>
              <a:t>——</a:t>
            </a:r>
            <a:r>
              <a:rPr lang="zh-CN" altLang="zh-CN" b="1" dirty="0"/>
              <a:t>技术与通信</a:t>
            </a:r>
            <a:endParaRPr lang="zh-CN" altLang="en-US" b="1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9CDF06C-A0EC-BD06-19E5-236992349F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256949"/>
              </p:ext>
            </p:extLst>
          </p:nvPr>
        </p:nvGraphicFramePr>
        <p:xfrm>
          <a:off x="586509" y="1015229"/>
          <a:ext cx="10723417" cy="16499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6218">
                  <a:extLst>
                    <a:ext uri="{9D8B030D-6E8A-4147-A177-3AD203B41FA5}">
                      <a16:colId xmlns:a16="http://schemas.microsoft.com/office/drawing/2014/main" val="2401889244"/>
                    </a:ext>
                  </a:extLst>
                </a:gridCol>
                <a:gridCol w="2909455">
                  <a:extLst>
                    <a:ext uri="{9D8B030D-6E8A-4147-A177-3AD203B41FA5}">
                      <a16:colId xmlns:a16="http://schemas.microsoft.com/office/drawing/2014/main" val="3735458391"/>
                    </a:ext>
                  </a:extLst>
                </a:gridCol>
                <a:gridCol w="4147127">
                  <a:extLst>
                    <a:ext uri="{9D8B030D-6E8A-4147-A177-3AD203B41FA5}">
                      <a16:colId xmlns:a16="http://schemas.microsoft.com/office/drawing/2014/main" val="571644391"/>
                    </a:ext>
                  </a:extLst>
                </a:gridCol>
                <a:gridCol w="2290617">
                  <a:extLst>
                    <a:ext uri="{9D8B030D-6E8A-4147-A177-3AD203B41FA5}">
                      <a16:colId xmlns:a16="http://schemas.microsoft.com/office/drawing/2014/main" val="1118987306"/>
                    </a:ext>
                  </a:extLst>
                </a:gridCol>
              </a:tblGrid>
              <a:tr h="490298">
                <a:tc>
                  <a:txBody>
                    <a:bodyPr/>
                    <a:lstStyle/>
                    <a:p>
                      <a:r>
                        <a:rPr lang="zh-CN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维度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IEC 61980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GB/T 38775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影响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293906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功率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频率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3.7-22 kW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81.38-90 kHz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相同，但支持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900 kW 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有缆扩展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GB/T 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更灵活本土电网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49123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EMC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CISPR 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 4 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专用限值（更严格）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GB/T 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城市环境优化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860951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B223A6C3-D863-DF70-532C-CD652F917EC1}"/>
              </a:ext>
            </a:extLst>
          </p:cNvPr>
          <p:cNvSpPr txBox="1"/>
          <p:nvPr/>
        </p:nvSpPr>
        <p:spPr>
          <a:xfrm>
            <a:off x="581892" y="2862435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通讯协议栈对比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9D0F97E-896B-F4D4-D758-AB1D4CCD94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211454"/>
              </p:ext>
            </p:extLst>
          </p:nvPr>
        </p:nvGraphicFramePr>
        <p:xfrm>
          <a:off x="586509" y="3429001"/>
          <a:ext cx="10723417" cy="3110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6218">
                  <a:extLst>
                    <a:ext uri="{9D8B030D-6E8A-4147-A177-3AD203B41FA5}">
                      <a16:colId xmlns:a16="http://schemas.microsoft.com/office/drawing/2014/main" val="2401889244"/>
                    </a:ext>
                  </a:extLst>
                </a:gridCol>
                <a:gridCol w="2636982">
                  <a:extLst>
                    <a:ext uri="{9D8B030D-6E8A-4147-A177-3AD203B41FA5}">
                      <a16:colId xmlns:a16="http://schemas.microsoft.com/office/drawing/2014/main" val="3735458391"/>
                    </a:ext>
                  </a:extLst>
                </a:gridCol>
                <a:gridCol w="3205018">
                  <a:extLst>
                    <a:ext uri="{9D8B030D-6E8A-4147-A177-3AD203B41FA5}">
                      <a16:colId xmlns:a16="http://schemas.microsoft.com/office/drawing/2014/main" val="57164439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18987306"/>
                    </a:ext>
                  </a:extLst>
                </a:gridCol>
              </a:tblGrid>
              <a:tr h="354305">
                <a:tc>
                  <a:txBody>
                    <a:bodyPr/>
                    <a:lstStyle/>
                    <a:p>
                      <a:r>
                        <a:rPr lang="zh-CN" alt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层级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IEC 61980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GB/T 38775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相似度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293906"/>
                  </a:ext>
                </a:extLst>
              </a:tr>
              <a:tr h="345898">
                <a:tc>
                  <a:txBody>
                    <a:bodyPr/>
                    <a:lstStyle/>
                    <a:p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应用层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49123"/>
                  </a:ext>
                </a:extLst>
              </a:tr>
              <a:tr h="451016">
                <a:tc>
                  <a:txBody>
                    <a:bodyPr/>
                    <a:lstStyle/>
                    <a:p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表达层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EXI</a:t>
                      </a:r>
                      <a:r>
                        <a:rPr lang="zh-CN" altLang="en-US" sz="1400" dirty="0"/>
                        <a:t>压缩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EXI</a:t>
                      </a:r>
                      <a:r>
                        <a:rPr lang="zh-CN" altLang="en-US" sz="1400" dirty="0"/>
                        <a:t>压缩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相同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860951"/>
                  </a:ext>
                </a:extLst>
              </a:tr>
              <a:tr h="32068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会话层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TCP</a:t>
                      </a:r>
                      <a:r>
                        <a:rPr lang="zh-CN" altLang="en-US" sz="1400" dirty="0"/>
                        <a:t>端口</a:t>
                      </a:r>
                      <a:r>
                        <a:rPr lang="en-US" altLang="zh-CN" sz="1400" dirty="0"/>
                        <a:t>15118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TCP</a:t>
                      </a:r>
                      <a:r>
                        <a:rPr lang="zh-CN" altLang="en-US" sz="1400" dirty="0"/>
                        <a:t>端口</a:t>
                      </a:r>
                      <a:r>
                        <a:rPr lang="en-US" altLang="zh-CN" sz="1400" dirty="0"/>
                        <a:t>15118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相同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119986"/>
                  </a:ext>
                </a:extLst>
              </a:tr>
              <a:tr h="44685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网路层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IPv6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IPv6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相同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233025"/>
                  </a:ext>
                </a:extLst>
              </a:tr>
              <a:tr h="501933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物理层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WLAN 5GHz 802.11ac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WLAN 5GHz 802.11ac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相同</a:t>
                      </a:r>
                    </a:p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290777"/>
                  </a:ext>
                </a:extLst>
              </a:tr>
              <a:tr h="661952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辅助层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LF+LPE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LF+LPE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相同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7604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768375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5B3CE6A-BA71-652E-5440-B093EB580725}"/>
              </a:ext>
            </a:extLst>
          </p:cNvPr>
          <p:cNvSpPr txBox="1"/>
          <p:nvPr/>
        </p:nvSpPr>
        <p:spPr>
          <a:xfrm>
            <a:off x="581892" y="443345"/>
            <a:ext cx="5366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/>
              <a:t>核心区别对比（</a:t>
            </a:r>
            <a:r>
              <a:rPr lang="en-US" altLang="zh-CN" b="1" dirty="0"/>
              <a:t>2/3</a:t>
            </a:r>
            <a:r>
              <a:rPr lang="zh-CN" altLang="zh-CN" b="1" dirty="0"/>
              <a:t>）</a:t>
            </a:r>
            <a:r>
              <a:rPr lang="en-US" altLang="zh-CN" b="1" dirty="0"/>
              <a:t>——</a:t>
            </a:r>
            <a:r>
              <a:rPr lang="zh-CN" altLang="zh-CN" b="1" dirty="0"/>
              <a:t>技术与通信</a:t>
            </a:r>
            <a:endParaRPr lang="zh-CN" altLang="en-US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7CF4D87-517A-0C24-6A66-1B5CDD9EA219}"/>
              </a:ext>
            </a:extLst>
          </p:cNvPr>
          <p:cNvSpPr txBox="1"/>
          <p:nvPr/>
        </p:nvSpPr>
        <p:spPr>
          <a:xfrm>
            <a:off x="581892" y="103363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通讯流程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C638015-AE4F-8771-BA81-836587716A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764070"/>
              </p:ext>
            </p:extLst>
          </p:nvPr>
        </p:nvGraphicFramePr>
        <p:xfrm>
          <a:off x="674253" y="1623924"/>
          <a:ext cx="10926620" cy="4925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947">
                  <a:extLst>
                    <a:ext uri="{9D8B030D-6E8A-4147-A177-3AD203B41FA5}">
                      <a16:colId xmlns:a16="http://schemas.microsoft.com/office/drawing/2014/main" val="2933405398"/>
                    </a:ext>
                  </a:extLst>
                </a:gridCol>
                <a:gridCol w="2595418">
                  <a:extLst>
                    <a:ext uri="{9D8B030D-6E8A-4147-A177-3AD203B41FA5}">
                      <a16:colId xmlns:a16="http://schemas.microsoft.com/office/drawing/2014/main" val="1739956979"/>
                    </a:ext>
                  </a:extLst>
                </a:gridCol>
                <a:gridCol w="2650837">
                  <a:extLst>
                    <a:ext uri="{9D8B030D-6E8A-4147-A177-3AD203B41FA5}">
                      <a16:colId xmlns:a16="http://schemas.microsoft.com/office/drawing/2014/main" val="3866834619"/>
                    </a:ext>
                  </a:extLst>
                </a:gridCol>
                <a:gridCol w="3103418">
                  <a:extLst>
                    <a:ext uri="{9D8B030D-6E8A-4147-A177-3AD203B41FA5}">
                      <a16:colId xmlns:a16="http://schemas.microsoft.com/office/drawing/2014/main" val="137983235"/>
                    </a:ext>
                  </a:extLst>
                </a:gridCol>
              </a:tblGrid>
              <a:tr h="384708">
                <a:tc>
                  <a:txBody>
                    <a:bodyPr/>
                    <a:lstStyle/>
                    <a:p>
                      <a:r>
                        <a:rPr lang="zh-CN" altLang="en-US" dirty="0"/>
                        <a:t>步骤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IEC 61980-2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GB/T 38775.2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差异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041636"/>
                  </a:ext>
                </a:extLst>
              </a:tr>
              <a:tr h="390052">
                <a:tc>
                  <a:txBody>
                    <a:bodyPr/>
                    <a:lstStyle/>
                    <a:p>
                      <a:r>
                        <a:rPr lang="en-US" altLang="zh-CN" dirty="0"/>
                        <a:t>1.TCP/LTS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173091"/>
                  </a:ext>
                </a:extLst>
              </a:tr>
              <a:tr h="390052">
                <a:tc>
                  <a:txBody>
                    <a:bodyPr/>
                    <a:lstStyle/>
                    <a:p>
                      <a:r>
                        <a:rPr lang="en-US" altLang="zh-CN" dirty="0"/>
                        <a:t>2.</a:t>
                      </a:r>
                      <a:r>
                        <a:rPr lang="zh-CN" altLang="en-US" dirty="0"/>
                        <a:t>服务发现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778200"/>
                  </a:ext>
                </a:extLst>
              </a:tr>
              <a:tr h="390052">
                <a:tc>
                  <a:txBody>
                    <a:bodyPr/>
                    <a:lstStyle/>
                    <a:p>
                      <a:r>
                        <a:rPr lang="en-US" altLang="zh-CN" dirty="0"/>
                        <a:t>3.</a:t>
                      </a:r>
                      <a:r>
                        <a:rPr lang="zh-CN" altLang="en-US" dirty="0"/>
                        <a:t>精确定位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255862"/>
                  </a:ext>
                </a:extLst>
              </a:tr>
              <a:tr h="390052">
                <a:tc>
                  <a:txBody>
                    <a:bodyPr/>
                    <a:lstStyle/>
                    <a:p>
                      <a:r>
                        <a:rPr lang="en-US" altLang="zh-CN" dirty="0"/>
                        <a:t>4.</a:t>
                      </a:r>
                      <a:r>
                        <a:rPr lang="zh-CN" altLang="en-US" dirty="0"/>
                        <a:t>配对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032113"/>
                  </a:ext>
                </a:extLst>
              </a:tr>
              <a:tr h="390052">
                <a:tc>
                  <a:txBody>
                    <a:bodyPr/>
                    <a:lstStyle/>
                    <a:p>
                      <a:r>
                        <a:rPr lang="en-US" altLang="zh-CN" dirty="0"/>
                        <a:t>5.</a:t>
                      </a:r>
                      <a:r>
                        <a:rPr lang="zh-CN" altLang="en-US" dirty="0"/>
                        <a:t>鉴权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059287"/>
                  </a:ext>
                </a:extLst>
              </a:tr>
              <a:tr h="390052">
                <a:tc>
                  <a:txBody>
                    <a:bodyPr/>
                    <a:lstStyle/>
                    <a:p>
                      <a:r>
                        <a:rPr lang="en-US" altLang="zh-CN" dirty="0"/>
                        <a:t>6.</a:t>
                      </a:r>
                      <a:r>
                        <a:rPr lang="zh-CN" altLang="en-US" dirty="0"/>
                        <a:t>兼容性检查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7980327"/>
                  </a:ext>
                </a:extLst>
              </a:tr>
              <a:tr h="390052">
                <a:tc>
                  <a:txBody>
                    <a:bodyPr/>
                    <a:lstStyle/>
                    <a:p>
                      <a:r>
                        <a:rPr lang="en-US" altLang="zh-CN" dirty="0"/>
                        <a:t>7.</a:t>
                      </a:r>
                      <a:r>
                        <a:rPr lang="zh-CN" altLang="en-US" dirty="0"/>
                        <a:t>对齐检查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8546599"/>
                  </a:ext>
                </a:extLst>
              </a:tr>
              <a:tr h="390052">
                <a:tc>
                  <a:txBody>
                    <a:bodyPr/>
                    <a:lstStyle/>
                    <a:p>
                      <a:r>
                        <a:rPr lang="en-US" altLang="zh-CN" dirty="0"/>
                        <a:t>8.</a:t>
                      </a:r>
                      <a:r>
                        <a:rPr lang="zh-CN" altLang="en-US" dirty="0"/>
                        <a:t>功率装备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218996"/>
                  </a:ext>
                </a:extLst>
              </a:tr>
              <a:tr h="390052">
                <a:tc>
                  <a:txBody>
                    <a:bodyPr/>
                    <a:lstStyle/>
                    <a:p>
                      <a:r>
                        <a:rPr lang="en-US" altLang="zh-CN" dirty="0"/>
                        <a:t>9.</a:t>
                      </a:r>
                      <a:r>
                        <a:rPr lang="zh-CN" altLang="en-US" dirty="0"/>
                        <a:t>功率控制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5119419"/>
                  </a:ext>
                </a:extLst>
              </a:tr>
              <a:tr h="390052">
                <a:tc>
                  <a:txBody>
                    <a:bodyPr/>
                    <a:lstStyle/>
                    <a:p>
                      <a:r>
                        <a:rPr lang="en-US" altLang="zh-CN" dirty="0"/>
                        <a:t>10.</a:t>
                      </a:r>
                      <a:r>
                        <a:rPr lang="zh-CN" altLang="en-US" dirty="0"/>
                        <a:t>状态上报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WCCMS</a:t>
                      </a:r>
                      <a:r>
                        <a:rPr lang="zh-CN" altLang="en-US" dirty="0"/>
                        <a:t>上报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有，</a:t>
                      </a:r>
                      <a:r>
                        <a:rPr lang="en-US" altLang="zh-CN" dirty="0"/>
                        <a:t>IEC</a:t>
                      </a:r>
                      <a:r>
                        <a:rPr lang="zh-CN" altLang="en-US" dirty="0"/>
                        <a:t>发给桩，</a:t>
                      </a:r>
                      <a:r>
                        <a:rPr lang="en-US" altLang="zh-CN" dirty="0"/>
                        <a:t>GB/T</a:t>
                      </a:r>
                      <a:r>
                        <a:rPr lang="zh-CN" altLang="en-US" dirty="0"/>
                        <a:t>同时发送桩与</a:t>
                      </a:r>
                      <a:r>
                        <a:rPr lang="en-US" altLang="zh-CN" dirty="0"/>
                        <a:t>WCCMS</a:t>
                      </a:r>
                      <a:r>
                        <a:rPr lang="zh-CN" altLang="en-US" dirty="0"/>
                        <a:t>云平台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4003926"/>
                  </a:ext>
                </a:extLst>
              </a:tr>
              <a:tr h="390052">
                <a:tc>
                  <a:txBody>
                    <a:bodyPr/>
                    <a:lstStyle/>
                    <a:p>
                      <a:r>
                        <a:rPr lang="en-US" altLang="zh-CN" dirty="0"/>
                        <a:t>11.</a:t>
                      </a:r>
                      <a:r>
                        <a:rPr lang="zh-CN" altLang="en-US" dirty="0"/>
                        <a:t>停止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617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9105444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9E111-3D16-C76D-C5A9-D07CAE46D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BA38AD6-AA68-83C4-74B6-2B3BF02F4DD1}"/>
              </a:ext>
            </a:extLst>
          </p:cNvPr>
          <p:cNvSpPr txBox="1"/>
          <p:nvPr/>
        </p:nvSpPr>
        <p:spPr>
          <a:xfrm>
            <a:off x="581891" y="443345"/>
            <a:ext cx="6188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/>
              <a:t>核心区别对比（</a:t>
            </a:r>
            <a:r>
              <a:rPr lang="en-US" altLang="zh-CN" b="1" dirty="0"/>
              <a:t>3/3</a:t>
            </a:r>
            <a:r>
              <a:rPr lang="zh-CN" altLang="zh-CN" b="1" dirty="0"/>
              <a:t>）</a:t>
            </a:r>
            <a:r>
              <a:rPr lang="en-US" altLang="zh-CN" b="1" dirty="0"/>
              <a:t>——</a:t>
            </a:r>
            <a:r>
              <a:rPr lang="zh-CN" altLang="zh-CN" b="1" dirty="0"/>
              <a:t>安全、测试与应用</a:t>
            </a:r>
            <a:endParaRPr lang="zh-CN" altLang="en-US" b="1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C8142E6-9FE8-382E-9144-3F88706C92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888989"/>
              </p:ext>
            </p:extLst>
          </p:nvPr>
        </p:nvGraphicFramePr>
        <p:xfrm>
          <a:off x="683490" y="1726428"/>
          <a:ext cx="10723417" cy="2568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2765">
                  <a:extLst>
                    <a:ext uri="{9D8B030D-6E8A-4147-A177-3AD203B41FA5}">
                      <a16:colId xmlns:a16="http://schemas.microsoft.com/office/drawing/2014/main" val="2401889244"/>
                    </a:ext>
                  </a:extLst>
                </a:gridCol>
                <a:gridCol w="2262908">
                  <a:extLst>
                    <a:ext uri="{9D8B030D-6E8A-4147-A177-3AD203B41FA5}">
                      <a16:colId xmlns:a16="http://schemas.microsoft.com/office/drawing/2014/main" val="3735458391"/>
                    </a:ext>
                  </a:extLst>
                </a:gridCol>
                <a:gridCol w="3121892">
                  <a:extLst>
                    <a:ext uri="{9D8B030D-6E8A-4147-A177-3AD203B41FA5}">
                      <a16:colId xmlns:a16="http://schemas.microsoft.com/office/drawing/2014/main" val="571644391"/>
                    </a:ext>
                  </a:extLst>
                </a:gridCol>
                <a:gridCol w="3315852">
                  <a:extLst>
                    <a:ext uri="{9D8B030D-6E8A-4147-A177-3AD203B41FA5}">
                      <a16:colId xmlns:a16="http://schemas.microsoft.com/office/drawing/2014/main" val="1118987306"/>
                    </a:ext>
                  </a:extLst>
                </a:gridCol>
              </a:tblGrid>
              <a:tr h="490298">
                <a:tc>
                  <a:txBody>
                    <a:bodyPr/>
                    <a:lstStyle/>
                    <a:p>
                      <a:r>
                        <a:rPr lang="zh-CN" alt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频率范围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项目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GB/T 38775</a:t>
                      </a:r>
                      <a:r>
                        <a:rPr lang="zh-CN" alt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限制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对比</a:t>
                      </a:r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IEC61980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293906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9kHz~150kHz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磁场强度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&lt;= 137dBμA/m(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边缘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1m)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&lt;= 144dBμA/m(1m)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49123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150kHz~30MHz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电场强度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&lt;= 61dBμV/m(10m)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&lt;= 70dBμV/m(10m)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860951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30MHz~1GHz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辐射发射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&lt;= 40dBμV/m(3m)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&lt;= 50dBμV/m(3m)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481055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r>
                        <a:rPr lang="zh-CN" altLang="en-US" dirty="0"/>
                        <a:t>抗扰度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浪涌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静电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6kV/8kV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4k/6kV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270761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8B491958-D838-38C1-7C01-27F36209B9EC}"/>
              </a:ext>
            </a:extLst>
          </p:cNvPr>
          <p:cNvSpPr txBox="1"/>
          <p:nvPr/>
        </p:nvSpPr>
        <p:spPr>
          <a:xfrm>
            <a:off x="683490" y="1126836"/>
            <a:ext cx="4239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EMC</a:t>
            </a:r>
            <a:r>
              <a:rPr lang="zh-CN" altLang="en-US" dirty="0"/>
              <a:t>电磁环境限值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1B205F-108D-7333-FF25-AC3CD5D4E5E9}"/>
              </a:ext>
            </a:extLst>
          </p:cNvPr>
          <p:cNvSpPr txBox="1"/>
          <p:nvPr/>
        </p:nvSpPr>
        <p:spPr>
          <a:xfrm>
            <a:off x="683490" y="482138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通用安全要求</a:t>
            </a:r>
          </a:p>
        </p:txBody>
      </p:sp>
    </p:spTree>
    <p:extLst>
      <p:ext uri="{BB962C8B-B14F-4D97-AF65-F5344CB8AC3E}">
        <p14:creationId xmlns:p14="http://schemas.microsoft.com/office/powerpoint/2010/main" val="2142134313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F4066B6-56B4-8EFE-80F1-0BAE2E0CE8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077924"/>
              </p:ext>
            </p:extLst>
          </p:nvPr>
        </p:nvGraphicFramePr>
        <p:xfrm>
          <a:off x="350982" y="267854"/>
          <a:ext cx="10852728" cy="5402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7158">
                  <a:extLst>
                    <a:ext uri="{9D8B030D-6E8A-4147-A177-3AD203B41FA5}">
                      <a16:colId xmlns:a16="http://schemas.microsoft.com/office/drawing/2014/main" val="2401889244"/>
                    </a:ext>
                  </a:extLst>
                </a:gridCol>
                <a:gridCol w="2290196">
                  <a:extLst>
                    <a:ext uri="{9D8B030D-6E8A-4147-A177-3AD203B41FA5}">
                      <a16:colId xmlns:a16="http://schemas.microsoft.com/office/drawing/2014/main" val="3735458391"/>
                    </a:ext>
                  </a:extLst>
                </a:gridCol>
                <a:gridCol w="3159538">
                  <a:extLst>
                    <a:ext uri="{9D8B030D-6E8A-4147-A177-3AD203B41FA5}">
                      <a16:colId xmlns:a16="http://schemas.microsoft.com/office/drawing/2014/main" val="571644391"/>
                    </a:ext>
                  </a:extLst>
                </a:gridCol>
                <a:gridCol w="3355836">
                  <a:extLst>
                    <a:ext uri="{9D8B030D-6E8A-4147-A177-3AD203B41FA5}">
                      <a16:colId xmlns:a16="http://schemas.microsoft.com/office/drawing/2014/main" val="1118987306"/>
                    </a:ext>
                  </a:extLst>
                </a:gridCol>
              </a:tblGrid>
              <a:tr h="465826">
                <a:tc>
                  <a:txBody>
                    <a:bodyPr/>
                    <a:lstStyle/>
                    <a:p>
                      <a:r>
                        <a:rPr lang="zh-CN" alt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安全维度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IEC61980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GB/T 38775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对比</a:t>
                      </a:r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IEC61980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293906"/>
                  </a:ext>
                </a:extLst>
              </a:tr>
              <a:tr h="493660">
                <a:tc>
                  <a:txBody>
                    <a:bodyPr/>
                    <a:lstStyle/>
                    <a:p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响应时间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&lt;= 100ms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&lt;= 80ms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更安全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49123"/>
                  </a:ext>
                </a:extLst>
              </a:tr>
              <a:tr h="493660">
                <a:tc>
                  <a:txBody>
                    <a:bodyPr/>
                    <a:lstStyle/>
                    <a:p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过温限制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线圈 </a:t>
                      </a:r>
                      <a:r>
                        <a:rPr lang="en-US" altLang="zh-CN" dirty="0"/>
                        <a:t>&lt;= 70</a:t>
                      </a:r>
                      <a:r>
                        <a:rPr lang="zh-CN" altLang="en-US" dirty="0"/>
                        <a:t>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线圈 </a:t>
                      </a:r>
                      <a:r>
                        <a:rPr lang="en-US" altLang="zh-CN" dirty="0"/>
                        <a:t>&lt;= 65</a:t>
                      </a:r>
                      <a:r>
                        <a:rPr lang="zh-CN" altLang="en-US" dirty="0"/>
                        <a:t>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防烫伤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860951"/>
                  </a:ext>
                </a:extLst>
              </a:tr>
              <a:tr h="493660">
                <a:tc>
                  <a:txBody>
                    <a:bodyPr/>
                    <a:lstStyle/>
                    <a:p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对齐容差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100mm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80mm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更精准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481055"/>
                  </a:ext>
                </a:extLst>
              </a:tr>
              <a:tr h="493660">
                <a:tc>
                  <a:txBody>
                    <a:bodyPr/>
                    <a:lstStyle/>
                    <a:p>
                      <a:r>
                        <a:rPr lang="en-US" altLang="zh-CN" dirty="0"/>
                        <a:t>EMF</a:t>
                      </a:r>
                      <a:r>
                        <a:rPr lang="zh-CN" altLang="en-US" dirty="0"/>
                        <a:t>泄露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&lt;= 15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μ</a:t>
                      </a:r>
                      <a:r>
                        <a:rPr lang="en-US" altLang="zh-CN" dirty="0"/>
                        <a:t>T(1m)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&lt;= 10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μ</a:t>
                      </a:r>
                      <a:r>
                        <a:rPr lang="en-US" altLang="zh-CN" dirty="0"/>
                        <a:t>T(1m)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城市环境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270761"/>
                  </a:ext>
                </a:extLst>
              </a:tr>
              <a:tr h="493660">
                <a:tc>
                  <a:txBody>
                    <a:bodyPr/>
                    <a:lstStyle/>
                    <a:p>
                      <a:r>
                        <a:rPr lang="en-US" altLang="zh-CN" dirty="0"/>
                        <a:t>EMC</a:t>
                      </a:r>
                      <a:r>
                        <a:rPr lang="zh-CN" altLang="en-US" dirty="0"/>
                        <a:t>限制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公共场所强制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4597"/>
                  </a:ext>
                </a:extLst>
              </a:tr>
              <a:tr h="493660">
                <a:tc>
                  <a:txBody>
                    <a:bodyPr/>
                    <a:lstStyle/>
                    <a:p>
                      <a:r>
                        <a:rPr lang="en-US" altLang="zh-CN" dirty="0"/>
                        <a:t>FOD</a:t>
                      </a:r>
                      <a:r>
                        <a:rPr lang="zh-CN" altLang="en-US" dirty="0"/>
                        <a:t>灵敏度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&gt;= 5g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&gt;= 3g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更灵敏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002952"/>
                  </a:ext>
                </a:extLst>
              </a:tr>
              <a:tr h="493660">
                <a:tc>
                  <a:txBody>
                    <a:bodyPr/>
                    <a:lstStyle/>
                    <a:p>
                      <a:r>
                        <a:rPr lang="zh-CN" altLang="en-US" dirty="0"/>
                        <a:t>振动测试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10G</a:t>
                      </a:r>
                      <a:r>
                        <a:rPr lang="zh-CN" altLang="en-US" dirty="0"/>
                        <a:t>冲击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停车场耐久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8327947"/>
                  </a:ext>
                </a:extLst>
              </a:tr>
              <a:tr h="493660">
                <a:tc>
                  <a:txBody>
                    <a:bodyPr/>
                    <a:lstStyle/>
                    <a:p>
                      <a:r>
                        <a:rPr lang="zh-CN" altLang="en-US" dirty="0"/>
                        <a:t>云端审计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可选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WCCMS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防盗、防篡改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225509"/>
                  </a:ext>
                </a:extLst>
              </a:tr>
              <a:tr h="493660">
                <a:tc>
                  <a:txBody>
                    <a:bodyPr/>
                    <a:lstStyle/>
                    <a:p>
                      <a:r>
                        <a:rPr lang="zh-CN" altLang="en-US" dirty="0"/>
                        <a:t>通信加密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TLS 1.3 +ECC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SM2/SM4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信息安全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234278"/>
                  </a:ext>
                </a:extLst>
              </a:tr>
              <a:tr h="493660">
                <a:tc>
                  <a:txBody>
                    <a:bodyPr/>
                    <a:lstStyle/>
                    <a:p>
                      <a:r>
                        <a:rPr lang="en-US" altLang="zh-CN" dirty="0"/>
                        <a:t>IP</a:t>
                      </a:r>
                      <a:r>
                        <a:rPr lang="zh-CN" altLang="en-US" dirty="0"/>
                        <a:t>等级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IP54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IP65/67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室外耐候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010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2596708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02087-B594-170A-6981-9E650A737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00F2A13-C730-81A7-C26E-46F8CAC6A33A}"/>
              </a:ext>
            </a:extLst>
          </p:cNvPr>
          <p:cNvSpPr txBox="1"/>
          <p:nvPr/>
        </p:nvSpPr>
        <p:spPr>
          <a:xfrm>
            <a:off x="581892" y="443345"/>
            <a:ext cx="2466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/>
              <a:t>区别总结</a:t>
            </a:r>
            <a:endParaRPr lang="zh-CN" altLang="en-US" b="1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B8E8C8D-34A8-BC02-EEE4-3BB322A829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062699"/>
              </p:ext>
            </p:extLst>
          </p:nvPr>
        </p:nvGraphicFramePr>
        <p:xfrm>
          <a:off x="683491" y="1541702"/>
          <a:ext cx="8432800" cy="36078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6218">
                  <a:extLst>
                    <a:ext uri="{9D8B030D-6E8A-4147-A177-3AD203B41FA5}">
                      <a16:colId xmlns:a16="http://schemas.microsoft.com/office/drawing/2014/main" val="2401889244"/>
                    </a:ext>
                  </a:extLst>
                </a:gridCol>
                <a:gridCol w="2909455">
                  <a:extLst>
                    <a:ext uri="{9D8B030D-6E8A-4147-A177-3AD203B41FA5}">
                      <a16:colId xmlns:a16="http://schemas.microsoft.com/office/drawing/2014/main" val="3735458391"/>
                    </a:ext>
                  </a:extLst>
                </a:gridCol>
                <a:gridCol w="4147127">
                  <a:extLst>
                    <a:ext uri="{9D8B030D-6E8A-4147-A177-3AD203B41FA5}">
                      <a16:colId xmlns:a16="http://schemas.microsoft.com/office/drawing/2014/main" val="571644391"/>
                    </a:ext>
                  </a:extLst>
                </a:gridCol>
              </a:tblGrid>
              <a:tr h="490298">
                <a:tc>
                  <a:txBody>
                    <a:bodyPr/>
                    <a:lstStyle/>
                    <a:p>
                      <a:r>
                        <a:rPr lang="zh-CN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类别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相似度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关键差异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293906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结构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高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49123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参数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很高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GB/T EMC 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更严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860951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通信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高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GB/T 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加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WCCMS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，其余流程基本一致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481055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安全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中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GB/T 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环境测试详尽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270761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测试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123649"/>
                  </a:ext>
                </a:extLst>
              </a:tr>
              <a:tr h="519595">
                <a:tc>
                  <a:txBody>
                    <a:bodyPr/>
                    <a:lstStyle/>
                    <a:p>
                      <a:r>
                        <a:rPr lang="zh-CN" altLang="en-US" dirty="0"/>
                        <a:t>命名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欧标是</a:t>
                      </a:r>
                      <a:r>
                        <a:rPr lang="en-US" altLang="zh-CN" dirty="0"/>
                        <a:t>SECC/EVCC</a:t>
                      </a:r>
                      <a:r>
                        <a:rPr lang="zh-CN" altLang="en-US" dirty="0"/>
                        <a:t>，国标</a:t>
                      </a:r>
                      <a:r>
                        <a:rPr lang="en-US" altLang="zh-CN" dirty="0"/>
                        <a:t>CSU/IVU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2852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1502076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F189C-4446-29DF-75A6-32EFC2232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6D4F3BC-DAD6-7E56-E9F1-9F2C165C2528}"/>
              </a:ext>
            </a:extLst>
          </p:cNvPr>
          <p:cNvSpPr txBox="1"/>
          <p:nvPr/>
        </p:nvSpPr>
        <p:spPr>
          <a:xfrm>
            <a:off x="300181" y="235588"/>
            <a:ext cx="6105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GB/T 38775</a:t>
            </a:r>
            <a:r>
              <a:rPr lang="zh-CN" altLang="en-US" b="1" dirty="0"/>
              <a:t>涉及的专利部分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957647D-E627-222D-813A-844757650520}"/>
              </a:ext>
            </a:extLst>
          </p:cNvPr>
          <p:cNvSpPr txBox="1"/>
          <p:nvPr/>
        </p:nvSpPr>
        <p:spPr>
          <a:xfrm>
            <a:off x="300181" y="960582"/>
            <a:ext cx="111067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《GB/T 38775.2-2020》</a:t>
            </a:r>
          </a:p>
          <a:p>
            <a:r>
              <a:rPr lang="en-US" altLang="zh-CN" dirty="0"/>
              <a:t>1.</a:t>
            </a:r>
            <a:r>
              <a:rPr lang="zh-CN" altLang="en-US" dirty="0"/>
              <a:t>涉及专利的章节：</a:t>
            </a:r>
            <a:r>
              <a:rPr lang="en-US" altLang="zh-CN" dirty="0"/>
              <a:t>5.1</a:t>
            </a:r>
            <a:r>
              <a:rPr lang="zh-CN" altLang="en-US" dirty="0"/>
              <a:t>（系统概述）、</a:t>
            </a:r>
            <a:r>
              <a:rPr lang="en-US" altLang="zh-CN" dirty="0"/>
              <a:t>5.2</a:t>
            </a:r>
            <a:r>
              <a:rPr lang="zh-CN" altLang="en-US" dirty="0"/>
              <a:t>（通信单元功能）、</a:t>
            </a:r>
            <a:r>
              <a:rPr lang="en-US" altLang="zh-CN" dirty="0"/>
              <a:t>5.4</a:t>
            </a:r>
            <a:r>
              <a:rPr lang="zh-CN" altLang="en-US" dirty="0"/>
              <a:t>（通信接口）、</a:t>
            </a:r>
            <a:r>
              <a:rPr lang="en-US" altLang="zh-CN" dirty="0"/>
              <a:t>6</a:t>
            </a:r>
            <a:r>
              <a:rPr lang="zh-CN" altLang="en-US" dirty="0"/>
              <a:t>（无线充电管理通信流程）、</a:t>
            </a:r>
            <a:r>
              <a:rPr lang="en-US" altLang="zh-CN" dirty="0"/>
              <a:t>7.5.8</a:t>
            </a:r>
            <a:r>
              <a:rPr lang="zh-CN" altLang="en-US" dirty="0"/>
              <a:t>（接口信息定义中与其对于内容）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F07D02-B0A7-95D1-711A-F28BB35A1890}"/>
              </a:ext>
            </a:extLst>
          </p:cNvPr>
          <p:cNvSpPr txBox="1"/>
          <p:nvPr/>
        </p:nvSpPr>
        <p:spPr>
          <a:xfrm>
            <a:off x="300181" y="1883912"/>
            <a:ext cx="106079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具体可能涉及专利的方面</a:t>
            </a:r>
            <a:endParaRPr lang="en-US" altLang="zh-CN" dirty="0"/>
          </a:p>
          <a:p>
            <a:r>
              <a:rPr lang="zh-CN" altLang="en-US" b="1" dirty="0"/>
              <a:t>双向鉴权加密协议：</a:t>
            </a:r>
            <a:r>
              <a:rPr lang="zh-CN" altLang="en-US" dirty="0"/>
              <a:t>第六章中描述的注册、鉴权过程（如使用随机数、计算认证码等）（</a:t>
            </a:r>
            <a:r>
              <a:rPr lang="zh-CN" altLang="en-US" i="1" dirty="0">
                <a:solidFill>
                  <a:schemeClr val="accent4"/>
                </a:solidFill>
              </a:rPr>
              <a:t>中兴华为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b="1" dirty="0"/>
              <a:t>特定的通讯模式（模式</a:t>
            </a:r>
            <a:r>
              <a:rPr lang="en-US" altLang="zh-CN" b="1" dirty="0"/>
              <a:t>B</a:t>
            </a:r>
            <a:r>
              <a:rPr lang="zh-CN" altLang="en-US" b="1" dirty="0"/>
              <a:t>）</a:t>
            </a:r>
            <a:r>
              <a:rPr lang="en-US" altLang="zh-CN" b="1" dirty="0"/>
              <a:t>:</a:t>
            </a:r>
            <a:r>
              <a:rPr lang="zh-CN" altLang="en-US" dirty="0"/>
              <a:t>涉及</a:t>
            </a:r>
            <a:r>
              <a:rPr lang="en-US" altLang="zh-CN" dirty="0"/>
              <a:t>WCCMS</a:t>
            </a:r>
            <a:r>
              <a:rPr lang="zh-CN" altLang="en-US" dirty="0"/>
              <a:t>（）参与控制的整个通信架构和数据流，例如</a:t>
            </a:r>
            <a:r>
              <a:rPr lang="en-US" altLang="zh-CN" dirty="0"/>
              <a:t>WCCMS</a:t>
            </a:r>
            <a:r>
              <a:rPr lang="zh-CN" altLang="en-US" dirty="0"/>
              <a:t>如何与</a:t>
            </a:r>
            <a:r>
              <a:rPr lang="en-US" altLang="zh-CN" dirty="0"/>
              <a:t>CSU</a:t>
            </a:r>
            <a:r>
              <a:rPr lang="zh-CN" altLang="en-US" dirty="0"/>
              <a:t>、</a:t>
            </a:r>
            <a:r>
              <a:rPr lang="en-US" altLang="zh-CN" dirty="0"/>
              <a:t>IVU</a:t>
            </a:r>
            <a:r>
              <a:rPr lang="zh-CN" altLang="en-US" dirty="0"/>
              <a:t>交互以决定开始</a:t>
            </a:r>
            <a:r>
              <a:rPr lang="en-US" altLang="zh-CN" dirty="0"/>
              <a:t>/</a:t>
            </a:r>
            <a:r>
              <a:rPr lang="zh-CN" altLang="en-US" dirty="0"/>
              <a:t>停止充电。</a:t>
            </a:r>
            <a:endParaRPr lang="en-US" altLang="zh-CN" dirty="0"/>
          </a:p>
          <a:p>
            <a:r>
              <a:rPr lang="zh-CN" altLang="en-US" b="1" dirty="0"/>
              <a:t>设备信息完整性校验机制：</a:t>
            </a:r>
            <a:r>
              <a:rPr lang="zh-CN" altLang="en-US" dirty="0"/>
              <a:t>标准</a:t>
            </a:r>
            <a:r>
              <a:rPr lang="en-US" altLang="zh-CN" dirty="0"/>
              <a:t>5.6</a:t>
            </a:r>
            <a:r>
              <a:rPr lang="zh-CN" altLang="en-US" dirty="0"/>
              <a:t>条强制要求数据完整保护（</a:t>
            </a:r>
            <a:r>
              <a:rPr lang="en-US" altLang="zh-CN" dirty="0" err="1"/>
              <a:t>Witricity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b="1" dirty="0"/>
              <a:t>保活机制及异常处理：</a:t>
            </a:r>
            <a:r>
              <a:rPr lang="zh-CN" altLang="en-US" dirty="0"/>
              <a:t>特定的链路检测和故障恢复机制（</a:t>
            </a:r>
            <a:r>
              <a:rPr lang="zh-CN" altLang="en-US" i="1" dirty="0">
                <a:solidFill>
                  <a:schemeClr val="accent4"/>
                </a:solidFill>
              </a:rPr>
              <a:t>中兴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b="1" dirty="0"/>
              <a:t>PTC/PPC</a:t>
            </a:r>
            <a:r>
              <a:rPr lang="zh-CN" altLang="en-US" b="1" dirty="0"/>
              <a:t>通信专业隧道协议：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9C0AF9F-A4A7-60E2-178E-029BBF55D32D}"/>
              </a:ext>
            </a:extLst>
          </p:cNvPr>
          <p:cNvSpPr txBox="1"/>
          <p:nvPr/>
        </p:nvSpPr>
        <p:spPr>
          <a:xfrm>
            <a:off x="300180" y="3939370"/>
            <a:ext cx="1118985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《GB/T 38775.3-2020》</a:t>
            </a:r>
          </a:p>
          <a:p>
            <a:r>
              <a:rPr lang="en-US" altLang="zh-CN" dirty="0"/>
              <a:t>1.</a:t>
            </a:r>
            <a:r>
              <a:rPr lang="zh-CN" altLang="en-US" dirty="0"/>
              <a:t>涉及专利的章节：可能涉及第１章（范围）、</a:t>
            </a:r>
            <a:r>
              <a:rPr lang="en-US" altLang="zh-CN" dirty="0"/>
              <a:t>3.1(</a:t>
            </a:r>
            <a:r>
              <a:rPr lang="zh-CN" altLang="en-US" dirty="0"/>
              <a:t>静态磁耦和无线充电定义</a:t>
            </a:r>
            <a:r>
              <a:rPr lang="en-US" altLang="zh-CN" dirty="0"/>
              <a:t>)</a:t>
            </a:r>
            <a:r>
              <a:rPr lang="zh-CN" altLang="en-US" dirty="0"/>
              <a:t>、</a:t>
            </a:r>
            <a:r>
              <a:rPr lang="en-US" altLang="zh-CN" dirty="0"/>
              <a:t>3.5</a:t>
            </a:r>
            <a:r>
              <a:rPr lang="zh-CN" altLang="en-US" dirty="0"/>
              <a:t>（自动充电方式）、</a:t>
            </a:r>
            <a:r>
              <a:rPr lang="en-US" altLang="zh-CN" dirty="0"/>
              <a:t>4.1</a:t>
            </a:r>
            <a:r>
              <a:rPr lang="zh-CN" altLang="en-US" dirty="0"/>
              <a:t>（磁极分类）、</a:t>
            </a:r>
            <a:r>
              <a:rPr lang="en-US" altLang="zh-CN" dirty="0"/>
              <a:t>4.2</a:t>
            </a:r>
            <a:r>
              <a:rPr lang="zh-CN" altLang="en-US" dirty="0"/>
              <a:t>（谐振补偿拓扑）、</a:t>
            </a:r>
            <a:r>
              <a:rPr lang="en-US" altLang="zh-CN" dirty="0"/>
              <a:t>5.1~5.6</a:t>
            </a:r>
            <a:r>
              <a:rPr lang="zh-CN" altLang="en-US" dirty="0"/>
              <a:t>（系统故障、频率、气隙等一般要求）、</a:t>
            </a:r>
            <a:r>
              <a:rPr lang="en-US" altLang="zh-CN" dirty="0"/>
              <a:t>5.8</a:t>
            </a:r>
            <a:r>
              <a:rPr lang="zh-CN" altLang="en-US" dirty="0"/>
              <a:t>（系统功能）、</a:t>
            </a:r>
            <a:r>
              <a:rPr lang="en-US" altLang="zh-CN" dirty="0"/>
              <a:t>6.1</a:t>
            </a:r>
            <a:r>
              <a:rPr lang="zh-CN" altLang="en-US" dirty="0"/>
              <a:t>（命令和控制限值）、</a:t>
            </a:r>
            <a:r>
              <a:rPr lang="en-US" altLang="zh-CN" dirty="0"/>
              <a:t>7.1</a:t>
            </a:r>
            <a:r>
              <a:rPr lang="zh-CN" altLang="en-US" dirty="0"/>
              <a:t>（系统销量）、</a:t>
            </a:r>
            <a:r>
              <a:rPr lang="en-US" altLang="zh-CN" dirty="0"/>
              <a:t>7.4</a:t>
            </a:r>
            <a:r>
              <a:rPr lang="zh-CN" altLang="en-US" dirty="0"/>
              <a:t>（电磁环境限制）、</a:t>
            </a:r>
            <a:r>
              <a:rPr lang="en-US" altLang="zh-CN" dirty="0"/>
              <a:t>7.7</a:t>
            </a:r>
            <a:r>
              <a:rPr lang="zh-CN" altLang="en-US" dirty="0"/>
              <a:t>（过流保护和短路保护）、</a:t>
            </a:r>
            <a:r>
              <a:rPr lang="en-US" altLang="zh-CN" dirty="0"/>
              <a:t>8.2</a:t>
            </a:r>
            <a:r>
              <a:rPr lang="zh-CN" altLang="en-US" dirty="0"/>
              <a:t>、</a:t>
            </a:r>
            <a:r>
              <a:rPr lang="en-US" altLang="zh-CN" dirty="0"/>
              <a:t>8.8</a:t>
            </a:r>
            <a:r>
              <a:rPr lang="zh-CN" altLang="en-US" dirty="0"/>
              <a:t>、 </a:t>
            </a:r>
            <a:r>
              <a:rPr lang="en-US" altLang="zh-CN" dirty="0"/>
              <a:t>8.8.3</a:t>
            </a:r>
            <a:r>
              <a:rPr lang="zh-CN" altLang="en-US" dirty="0"/>
              <a:t>（测试方法）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56513361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390AF-1370-0FCD-901F-FCDAE457D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E3A51DC-0821-5924-714B-12AC1F9C6ACF}"/>
              </a:ext>
            </a:extLst>
          </p:cNvPr>
          <p:cNvSpPr txBox="1"/>
          <p:nvPr/>
        </p:nvSpPr>
        <p:spPr>
          <a:xfrm>
            <a:off x="300181" y="235588"/>
            <a:ext cx="6105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GB/T 38775</a:t>
            </a:r>
            <a:r>
              <a:rPr lang="zh-CN" altLang="en-US" b="1" dirty="0"/>
              <a:t>涉及的专利部分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47D8865-CA1B-DF68-53A3-30BB98EF176A}"/>
              </a:ext>
            </a:extLst>
          </p:cNvPr>
          <p:cNvSpPr txBox="1"/>
          <p:nvPr/>
        </p:nvSpPr>
        <p:spPr>
          <a:xfrm>
            <a:off x="300181" y="775549"/>
            <a:ext cx="106079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具体可能涉及专利的方面</a:t>
            </a:r>
            <a:endParaRPr lang="en-US" altLang="zh-CN" dirty="0"/>
          </a:p>
          <a:p>
            <a:r>
              <a:rPr lang="zh-CN" altLang="en-US" b="1" dirty="0"/>
              <a:t>异物检测</a:t>
            </a:r>
            <a:r>
              <a:rPr lang="en-US" altLang="zh-CN" b="1" dirty="0"/>
              <a:t>FOD</a:t>
            </a:r>
            <a:r>
              <a:rPr lang="zh-CN" altLang="en-US" b="1" dirty="0"/>
              <a:t>：</a:t>
            </a:r>
            <a:r>
              <a:rPr lang="en-US" altLang="zh-CN" dirty="0"/>
              <a:t>Q</a:t>
            </a:r>
            <a:r>
              <a:rPr lang="zh-CN" altLang="en-US" dirty="0"/>
              <a:t>值偏移检测（通过线圈品质因数变化识别金属异物）；多传感器融合（结合红外</a:t>
            </a:r>
            <a:r>
              <a:rPr lang="en-US" altLang="zh-CN" dirty="0"/>
              <a:t>/</a:t>
            </a:r>
            <a:r>
              <a:rPr lang="zh-CN" altLang="en-US" dirty="0"/>
              <a:t>温度传感器排除误判）；动态阈值算法（根据不同车辆负载动态调整报警阈值）</a:t>
            </a:r>
            <a:endParaRPr lang="en-US" altLang="zh-CN" b="1" dirty="0"/>
          </a:p>
          <a:p>
            <a:r>
              <a:rPr lang="zh-CN" altLang="en-US" b="1" dirty="0"/>
              <a:t>对位检测</a:t>
            </a:r>
            <a:r>
              <a:rPr lang="en-US" altLang="zh-CN" b="1" dirty="0"/>
              <a:t>:</a:t>
            </a:r>
            <a:r>
              <a:rPr lang="zh-CN" altLang="en-US" dirty="0"/>
              <a:t>车辆与充电设备对准的检测技术</a:t>
            </a:r>
            <a:endParaRPr lang="en-US" altLang="zh-CN" dirty="0"/>
          </a:p>
          <a:p>
            <a:r>
              <a:rPr lang="zh-CN" altLang="en-US" b="1" dirty="0"/>
              <a:t>特定的谐振补偿拓扑结构：</a:t>
            </a:r>
            <a:r>
              <a:rPr lang="en-US" altLang="zh-CN" dirty="0"/>
              <a:t>SS</a:t>
            </a:r>
            <a:r>
              <a:rPr lang="zh-CN" altLang="en-US" dirty="0"/>
              <a:t>、</a:t>
            </a:r>
            <a:r>
              <a:rPr lang="en-US" altLang="zh-CN" dirty="0"/>
              <a:t>SP</a:t>
            </a:r>
            <a:r>
              <a:rPr lang="zh-CN" altLang="en-US" dirty="0"/>
              <a:t>、</a:t>
            </a:r>
            <a:r>
              <a:rPr lang="en-US" altLang="zh-CN" dirty="0"/>
              <a:t>PS</a:t>
            </a:r>
            <a:r>
              <a:rPr lang="zh-CN" altLang="en-US" dirty="0"/>
              <a:t>、</a:t>
            </a:r>
            <a:r>
              <a:rPr lang="en-US" altLang="zh-CN" dirty="0"/>
              <a:t>PP</a:t>
            </a:r>
            <a:r>
              <a:rPr lang="zh-CN" altLang="en-US" dirty="0"/>
              <a:t>等拓扑或其他</a:t>
            </a:r>
            <a:endParaRPr lang="en-US" altLang="zh-CN" dirty="0"/>
          </a:p>
          <a:p>
            <a:r>
              <a:rPr lang="zh-CN" altLang="en-US" b="1" dirty="0"/>
              <a:t>活体保护：</a:t>
            </a:r>
          </a:p>
        </p:txBody>
      </p:sp>
    </p:spTree>
    <p:extLst>
      <p:ext uri="{BB962C8B-B14F-4D97-AF65-F5344CB8AC3E}">
        <p14:creationId xmlns:p14="http://schemas.microsoft.com/office/powerpoint/2010/main" val="215968103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1843</TotalTime>
  <Words>2296</Words>
  <Application>Microsoft Office PowerPoint</Application>
  <PresentationFormat>宽屏</PresentationFormat>
  <Paragraphs>472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8" baseType="lpstr">
      <vt:lpstr>等线</vt:lpstr>
      <vt:lpstr>等线 Light</vt:lpstr>
      <vt:lpstr>宋体</vt:lpstr>
      <vt:lpstr>Arial</vt:lpstr>
      <vt:lpstr>Calibri</vt:lpstr>
      <vt:lpstr>Office 主题​​</vt:lpstr>
      <vt:lpstr>IEC 61980与GB/T 38775:电动汽车无线充电标准深度对比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Shenglin Chen</dc:creator>
  <cp:lastModifiedBy>Shenglin Chen</cp:lastModifiedBy>
  <cp:revision>74</cp:revision>
  <dcterms:created xsi:type="dcterms:W3CDTF">2025-11-10T01:33:07Z</dcterms:created>
  <dcterms:modified xsi:type="dcterms:W3CDTF">2025-11-11T08:28:29Z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1a97dba-4a48-4678-b18f-3391b0053218_Enabled">
    <vt:lpwstr>true</vt:lpwstr>
  </property>
  <property fmtid="{D5CDD505-2E9C-101B-9397-08002B2CF9AE}" pid="3" name="MSIP_Label_31a97dba-4a48-4678-b18f-3391b0053218_SetDate">
    <vt:lpwstr>2025-11-10T01:33:42Z</vt:lpwstr>
  </property>
  <property fmtid="{D5CDD505-2E9C-101B-9397-08002B2CF9AE}" pid="4" name="MSIP_Label_31a97dba-4a48-4678-b18f-3391b0053218_Method">
    <vt:lpwstr>Standard</vt:lpwstr>
  </property>
  <property fmtid="{D5CDD505-2E9C-101B-9397-08002B2CF9AE}" pid="5" name="MSIP_Label_31a97dba-4a48-4678-b18f-3391b0053218_Name">
    <vt:lpwstr>MAHLE internal restricted (CL2)</vt:lpwstr>
  </property>
  <property fmtid="{D5CDD505-2E9C-101B-9397-08002B2CF9AE}" pid="6" name="MSIP_Label_31a97dba-4a48-4678-b18f-3391b0053218_SiteId">
    <vt:lpwstr>e396b7c6-05f6-47d7-bef7-e89a9de9fd6c</vt:lpwstr>
  </property>
  <property fmtid="{D5CDD505-2E9C-101B-9397-08002B2CF9AE}" pid="7" name="MSIP_Label_31a97dba-4a48-4678-b18f-3391b0053218_ActionId">
    <vt:lpwstr>5a3ba989-5f7a-4b6d-922f-4026c55be9e1</vt:lpwstr>
  </property>
  <property fmtid="{D5CDD505-2E9C-101B-9397-08002B2CF9AE}" pid="8" name="MSIP_Label_31a97dba-4a48-4678-b18f-3391b0053218_ContentBits">
    <vt:lpwstr>2</vt:lpwstr>
  </property>
  <property fmtid="{D5CDD505-2E9C-101B-9397-08002B2CF9AE}" pid="9" name="MSIP_Label_31a97dba-4a48-4678-b18f-3391b0053218_Tag">
    <vt:lpwstr>10, 3, 0, 1</vt:lpwstr>
  </property>
  <property fmtid="{D5CDD505-2E9C-101B-9397-08002B2CF9AE}" pid="10" name="ClassificationContentMarkingFooterLocations">
    <vt:lpwstr>Office 主题​​:8</vt:lpwstr>
  </property>
  <property fmtid="{D5CDD505-2E9C-101B-9397-08002B2CF9AE}" pid="11" name="ClassificationContentMarkingFooterText">
    <vt:lpwstr>MAHLE internal restricted (CL2)</vt:lpwstr>
  </property>
</Properties>
</file>